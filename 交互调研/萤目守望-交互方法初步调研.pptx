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E63862-0AC2-8575-AA71-82F8C1D40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3C49344-1D0F-CAA2-1C0A-FA1B65A79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D501FF-0BED-195B-96B7-4DFCB0F32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349EB-65FA-4020-939F-FF3C1C2CB25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47B75A-C12F-7CC4-B55C-53E9BB0FB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CE8B06-F602-B247-0918-AED54E50D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EBE54-63AF-4752-BED4-B93F1489C4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99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51BE0C-0709-473F-1CBE-BC7213962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66C858-B23B-ADB6-342D-4E2D823FD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2955A8-EFA3-2332-495D-440FFA8B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349EB-65FA-4020-939F-FF3C1C2CB25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B6013F-AA9E-97B0-1582-D704B997F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BA77C8-88A6-4155-AD60-2A7096199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EBE54-63AF-4752-BED4-B93F1489C4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079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AC042-F16A-0E10-ACDF-C2DD8D486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2985B6-C01F-87DC-BBF3-283A78DCE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B4E0C3-160C-7120-5839-CEB015BEE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349EB-65FA-4020-939F-FF3C1C2CB25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B76836-7408-366B-313E-02A9F644E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024159-4720-C7AD-AD73-74D13C6E1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EBE54-63AF-4752-BED4-B93F1489C4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970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3B5CB-0193-FA62-D525-223D8EE6D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D56846-A1B7-A8A4-1DD3-F2606290A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186759-7855-A7AC-FBE5-45FC400A9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72779E-F9E8-B264-DB89-9FDC958AB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349EB-65FA-4020-939F-FF3C1C2CB25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C1285D-0271-7473-A642-54BBAE7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6BF3FA-0597-01DC-9410-5DC2BDD0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EBE54-63AF-4752-BED4-B93F1489C4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694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B4BD14-62F0-0C2B-0C68-CD03D56D4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76297F-1EFB-76AB-8F0C-3BBEDDDF2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56BEC4-81D1-7101-3704-8B6E8B2D5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971835-3AF5-D6F4-E725-804C10092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281D51-3A3A-8ECC-23A3-ECD692FE92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15C68C-7449-AA6B-43E3-46D516A86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349EB-65FA-4020-939F-FF3C1C2CB25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45AC3C-855F-6E92-AF2A-446D5100E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6528496-8E80-8DAF-ADCE-07CDF509C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EBE54-63AF-4752-BED4-B93F1489C4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949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7C3A38-7B68-518F-45B3-6DC2D2CA3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375EDF5-11B5-8723-A977-82BA0416A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349EB-65FA-4020-939F-FF3C1C2CB25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50CA2B-0B9A-E990-7296-B7E2796A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9B4CFE-8C78-FFA3-F1E3-01618CE0B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EBE54-63AF-4752-BED4-B93F1489C4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978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C5BBE8-7C33-D89E-BC2E-4FBA2A5F0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349EB-65FA-4020-939F-FF3C1C2CB25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F55B07C-26A0-2271-CAAF-CE72520B9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D98176-1777-53A2-2F65-43A0A78B6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EBE54-63AF-4752-BED4-B93F1489C4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27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300AB-89B2-BBC3-CB3A-260B2838D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0CEC15-9FF8-D6F3-E17E-9166B1BC2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7B451D-F02C-2394-54D4-BCBBD4FCF9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8BF9D4-67D5-FD82-7D6F-C41AA5C19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349EB-65FA-4020-939F-FF3C1C2CB25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9DAACC-4368-E7BD-6BD5-AFA762B48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B6E40B-CCD7-44D9-2BC8-B2014C35B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EBE54-63AF-4752-BED4-B93F1489C4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73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17B21C-6A33-5888-10BA-0DAEF8BD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EDF905B-1458-B0E1-AB34-E81C0548FD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696335-69AA-EE0D-BE3B-37F16EC87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FA7728-92DD-9F9D-CA18-04B500947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349EB-65FA-4020-939F-FF3C1C2CB25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6E10AC-6A80-0905-07D4-53349F795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6FB46B-AFD5-8B78-6FA1-430344874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EBE54-63AF-4752-BED4-B93F1489C4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105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8BF970-0629-0CC1-477C-C73EBF6EA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9D0EDF-AD08-E282-1287-DD54ED0F9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2A937F-9D22-A096-ECC0-5D9714FBB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349EB-65FA-4020-939F-FF3C1C2CB25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770023-337E-394D-950B-3FF0D32FB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DA73D7-CA83-D226-C6B6-8FAF30B22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EBE54-63AF-4752-BED4-B93F1489C4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002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BDC01B2-7200-B3D7-1457-2639352B74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A1C262-73E3-9247-FB78-CE82E464CA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731131-8D26-3BD4-2496-5C347C68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349EB-65FA-4020-939F-FF3C1C2CB25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CA727D-BDDE-6326-CDD2-217DD0EDA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4E91A2-21A1-9579-0F7B-0AD6B39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EBE54-63AF-4752-BED4-B93F1489C4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141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791271B-328A-EDEB-293B-62172A56B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620780-4AE3-52D8-8586-CAD7AC3DB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334EDA-F72A-7E0F-0942-1943246BD2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349EB-65FA-4020-939F-FF3C1C2CB251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D3AF26-9D15-9A18-871A-6B11E289B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725661-75C3-0BE3-6504-EFB50DFF8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7EBE54-63AF-4752-BED4-B93F1489C4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4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F96A5F-D414-EC4E-52A3-59193C6C257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B2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0433C4-0C13-B3A1-4F32-8B965442CCF1}"/>
              </a:ext>
            </a:extLst>
          </p:cNvPr>
          <p:cNvSpPr txBox="1"/>
          <p:nvPr/>
        </p:nvSpPr>
        <p:spPr>
          <a:xfrm>
            <a:off x="889000" y="1041400"/>
            <a:ext cx="1016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50D0C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从“完整故事”走向“可运行产品”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E531C4-E5A5-90E6-81B0-8824DFF3AF4B}"/>
              </a:ext>
            </a:extLst>
          </p:cNvPr>
          <p:cNvSpPr txBox="1"/>
          <p:nvPr/>
        </p:nvSpPr>
        <p:spPr>
          <a:xfrm>
            <a:off x="889000" y="1727200"/>
            <a:ext cx="1041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44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萤目守望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54F97E-7FFB-AD6C-F50F-D335076B1E7C}"/>
              </a:ext>
            </a:extLst>
          </p:cNvPr>
          <p:cNvSpPr txBox="1"/>
          <p:nvPr/>
        </p:nvSpPr>
        <p:spPr>
          <a:xfrm>
            <a:off x="914400" y="29972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交互方法初步调研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E68AE98-E2EE-7C03-A053-92EE89D9D880}"/>
              </a:ext>
            </a:extLst>
          </p:cNvPr>
          <p:cNvSpPr/>
          <p:nvPr/>
        </p:nvSpPr>
        <p:spPr>
          <a:xfrm>
            <a:off x="914400" y="4140200"/>
            <a:ext cx="4318000" cy="5842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1CB2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23AC68-4C05-DFEE-5608-196868D9E9D6}"/>
              </a:ext>
            </a:extLst>
          </p:cNvPr>
          <p:cNvSpPr txBox="1"/>
          <p:nvPr/>
        </p:nvSpPr>
        <p:spPr>
          <a:xfrm>
            <a:off x="1168400" y="4318000"/>
            <a:ext cx="381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核心任务：跌倒前置预警闭环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DCDDB43-3823-BC7B-18A0-3AA0B096DFA9}"/>
              </a:ext>
            </a:extLst>
          </p:cNvPr>
          <p:cNvSpPr txBox="1"/>
          <p:nvPr/>
        </p:nvSpPr>
        <p:spPr>
          <a:xfrm>
            <a:off x="914400" y="58928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吉林大学团队｜</a:t>
            </a:r>
            <a:r>
              <a:rPr lang="en-US" altLang="zh-CN" sz="100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2026.07.23</a:t>
            </a:r>
            <a:r>
              <a:rPr lang="zh-CN" altLang="en-US" sz="100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｜技术与交互讨论稿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407A90-5604-5974-9CA5-9DEDA310179D}"/>
              </a:ext>
            </a:extLst>
          </p:cNvPr>
          <p:cNvSpPr txBox="1"/>
          <p:nvPr/>
        </p:nvSpPr>
        <p:spPr>
          <a:xfrm>
            <a:off x="10160000" y="5842000"/>
            <a:ext cx="1320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100" b="1">
                <a:solidFill>
                  <a:srgbClr val="F6A3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Freeze v1.0</a:t>
            </a:r>
            <a:endParaRPr lang="zh-CN" altLang="en-US" sz="1100" b="1">
              <a:solidFill>
                <a:srgbClr val="F6A3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126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B98F832-F765-03CF-0E96-DFF612E59E18}"/>
              </a:ext>
            </a:extLst>
          </p:cNvPr>
          <p:cNvSpPr txBox="1"/>
          <p:nvPr/>
        </p:nvSpPr>
        <p:spPr>
          <a:xfrm>
            <a:off x="685800" y="431800"/>
            <a:ext cx="1003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INTERACTION PRINCIPLES</a:t>
            </a:r>
            <a:endParaRPr lang="zh-CN" altLang="en-US" sz="1000" b="1">
              <a:solidFill>
                <a:srgbClr val="1CB2A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144410-02E6-3963-042A-2C206B40FB67}"/>
              </a:ext>
            </a:extLst>
          </p:cNvPr>
          <p:cNvSpPr txBox="1"/>
          <p:nvPr/>
        </p:nvSpPr>
        <p:spPr>
          <a:xfrm>
            <a:off x="685800" y="762000"/>
            <a:ext cx="1041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两条核心原则，一个闭环要求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56ED00-A53A-D5B1-03F6-334D1B5ED25F}"/>
              </a:ext>
            </a:extLst>
          </p:cNvPr>
          <p:cNvSpPr txBox="1"/>
          <p:nvPr/>
        </p:nvSpPr>
        <p:spPr>
          <a:xfrm>
            <a:off x="11201400" y="482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900">
              <a:solidFill>
                <a:srgbClr val="B1C2C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0B05E7C-6C46-23E9-6526-D5B8E2EBE598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 w="12700">
            <a:solidFill>
              <a:srgbClr val="2A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2C403E8-3584-EC95-D539-2E356E84B961}"/>
              </a:ext>
            </a:extLst>
          </p:cNvPr>
          <p:cNvSpPr txBox="1"/>
          <p:nvPr/>
        </p:nvSpPr>
        <p:spPr>
          <a:xfrm>
            <a:off x="685800" y="6553200"/>
            <a:ext cx="8890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萤目守望｜交互方法初步调研｜技术与交互讨论稿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53E42C6-FFF7-5C2D-A440-3FC825E82FA5}"/>
              </a:ext>
            </a:extLst>
          </p:cNvPr>
          <p:cNvSpPr/>
          <p:nvPr/>
        </p:nvSpPr>
        <p:spPr>
          <a:xfrm>
            <a:off x="685800" y="1803400"/>
            <a:ext cx="3454400" cy="34290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315E40-4592-9AB4-75E2-D8AFEBA08CE4}"/>
              </a:ext>
            </a:extLst>
          </p:cNvPr>
          <p:cNvSpPr/>
          <p:nvPr/>
        </p:nvSpPr>
        <p:spPr>
          <a:xfrm>
            <a:off x="685800" y="1803400"/>
            <a:ext cx="76200" cy="3429000"/>
          </a:xfrm>
          <a:prstGeom prst="rect">
            <a:avLst/>
          </a:prstGeom>
          <a:solidFill>
            <a:srgbClr val="1CB2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9793F12-D8BA-E434-BE9C-C0987CB68767}"/>
              </a:ext>
            </a:extLst>
          </p:cNvPr>
          <p:cNvSpPr txBox="1"/>
          <p:nvPr/>
        </p:nvSpPr>
        <p:spPr>
          <a:xfrm>
            <a:off x="939800" y="20066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低风险不打扰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53204C4-D962-43DA-DA8F-DEADC68EBA41}"/>
              </a:ext>
            </a:extLst>
          </p:cNvPr>
          <p:cNvSpPr txBox="1"/>
          <p:nvPr/>
        </p:nvSpPr>
        <p:spPr>
          <a:xfrm>
            <a:off x="939800" y="25400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先学习老人平常安全的样子。单次、低质量或低置信度异常只记录，不制造“狼来了”。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DF13BE0-AE62-E4C3-B871-ED35C9902AEF}"/>
              </a:ext>
            </a:extLst>
          </p:cNvPr>
          <p:cNvSpPr/>
          <p:nvPr/>
        </p:nvSpPr>
        <p:spPr>
          <a:xfrm>
            <a:off x="4368800" y="1803400"/>
            <a:ext cx="3454400" cy="34290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6BB794-BFB1-745D-BD51-3FD45137B384}"/>
              </a:ext>
            </a:extLst>
          </p:cNvPr>
          <p:cNvSpPr/>
          <p:nvPr/>
        </p:nvSpPr>
        <p:spPr>
          <a:xfrm>
            <a:off x="4368800" y="1803400"/>
            <a:ext cx="76200" cy="3429000"/>
          </a:xfrm>
          <a:prstGeom prst="rect">
            <a:avLst/>
          </a:prstGeom>
          <a:solidFill>
            <a:srgbClr val="F6A3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161CBA8-63E1-F311-7AC0-44CF1E6EDF4E}"/>
              </a:ext>
            </a:extLst>
          </p:cNvPr>
          <p:cNvSpPr txBox="1"/>
          <p:nvPr/>
        </p:nvSpPr>
        <p:spPr>
          <a:xfrm>
            <a:off x="4622800" y="20066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关键时刻一个动作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900525B-5229-2040-92A6-21C17F477E40}"/>
              </a:ext>
            </a:extLst>
          </p:cNvPr>
          <p:cNvSpPr txBox="1"/>
          <p:nvPr/>
        </p:nvSpPr>
        <p:spPr>
          <a:xfrm>
            <a:off x="4622800" y="25400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不向老人解释复杂风险分。只给一个明确动作，例如“爸，先坐稳，慢慢起身”。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5020869-7D5D-1E30-9738-9C646E671558}"/>
              </a:ext>
            </a:extLst>
          </p:cNvPr>
          <p:cNvSpPr/>
          <p:nvPr/>
        </p:nvSpPr>
        <p:spPr>
          <a:xfrm>
            <a:off x="8051800" y="1803400"/>
            <a:ext cx="3454400" cy="34290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0228BA2-F13E-5840-7B56-E3086D6FE67E}"/>
              </a:ext>
            </a:extLst>
          </p:cNvPr>
          <p:cNvSpPr/>
          <p:nvPr/>
        </p:nvSpPr>
        <p:spPr>
          <a:xfrm>
            <a:off x="8051800" y="1803400"/>
            <a:ext cx="76200" cy="3429000"/>
          </a:xfrm>
          <a:prstGeom prst="rect">
            <a:avLst/>
          </a:prstGeom>
          <a:solidFill>
            <a:srgbClr val="4FC0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4AB3DDD-DB85-33AD-2892-F8E2E2D63973}"/>
              </a:ext>
            </a:extLst>
          </p:cNvPr>
          <p:cNvSpPr txBox="1"/>
          <p:nvPr/>
        </p:nvSpPr>
        <p:spPr>
          <a:xfrm>
            <a:off x="8305800" y="20066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干预后必须复核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A745815-FCC8-749D-46C8-CD935AD577EA}"/>
              </a:ext>
            </a:extLst>
          </p:cNvPr>
          <p:cNvSpPr txBox="1"/>
          <p:nvPr/>
        </p:nvSpPr>
        <p:spPr>
          <a:xfrm>
            <a:off x="8305800" y="25400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请求发出不等于工具送达，工具送达也不等于老人安全。风险回落才结束事件。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76B5B49-1BBF-CFD6-ED75-B009659F33C4}"/>
              </a:ext>
            </a:extLst>
          </p:cNvPr>
          <p:cNvSpPr txBox="1"/>
          <p:nvPr/>
        </p:nvSpPr>
        <p:spPr>
          <a:xfrm>
            <a:off x="685800" y="5562600"/>
            <a:ext cx="10820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适老化不是让老人学会操作系统，而是让系统尽量少要求老人操作。</a:t>
            </a:r>
          </a:p>
        </p:txBody>
      </p:sp>
    </p:spTree>
    <p:extLst>
      <p:ext uri="{BB962C8B-B14F-4D97-AF65-F5344CB8AC3E}">
        <p14:creationId xmlns:p14="http://schemas.microsoft.com/office/powerpoint/2010/main" val="2830097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DCFFD3B-00CB-9797-D8FE-C7628532EB7D}"/>
              </a:ext>
            </a:extLst>
          </p:cNvPr>
          <p:cNvSpPr txBox="1"/>
          <p:nvPr/>
        </p:nvSpPr>
        <p:spPr>
          <a:xfrm>
            <a:off x="685800" y="431800"/>
            <a:ext cx="1003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ACTORS &amp; RESPONSIBILITIES</a:t>
            </a:r>
            <a:endParaRPr lang="zh-CN" altLang="en-US" sz="1000" b="1">
              <a:solidFill>
                <a:srgbClr val="1CB2A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FD9128-E716-8F19-9811-7D73BD320499}"/>
              </a:ext>
            </a:extLst>
          </p:cNvPr>
          <p:cNvSpPr txBox="1"/>
          <p:nvPr/>
        </p:nvSpPr>
        <p:spPr>
          <a:xfrm>
            <a:off x="685800" y="762000"/>
            <a:ext cx="1041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四类参与者，共用一个风险闭环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C09A106-3C50-B0B5-F0EE-794A6A8F35A4}"/>
              </a:ext>
            </a:extLst>
          </p:cNvPr>
          <p:cNvSpPr txBox="1"/>
          <p:nvPr/>
        </p:nvSpPr>
        <p:spPr>
          <a:xfrm>
            <a:off x="11201400" y="482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900">
              <a:solidFill>
                <a:srgbClr val="B1C2C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27A83E9-C5CE-8CA5-4F2C-828D95C3B59A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 w="12700">
            <a:solidFill>
              <a:srgbClr val="2A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7D40270-AB28-41F7-D185-D9ACC3BF7951}"/>
              </a:ext>
            </a:extLst>
          </p:cNvPr>
          <p:cNvSpPr txBox="1"/>
          <p:nvPr/>
        </p:nvSpPr>
        <p:spPr>
          <a:xfrm>
            <a:off x="685800" y="6553200"/>
            <a:ext cx="8890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萤目守望｜交互方法初步调研｜技术与交互讨论稿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28000DF-EE20-FBB8-4EC5-B28E52F4B435}"/>
              </a:ext>
            </a:extLst>
          </p:cNvPr>
          <p:cNvSpPr/>
          <p:nvPr/>
        </p:nvSpPr>
        <p:spPr>
          <a:xfrm>
            <a:off x="685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10075A-706A-70C8-87F7-62C571D07312}"/>
              </a:ext>
            </a:extLst>
          </p:cNvPr>
          <p:cNvSpPr/>
          <p:nvPr/>
        </p:nvSpPr>
        <p:spPr>
          <a:xfrm>
            <a:off x="685800" y="1701800"/>
            <a:ext cx="76200" cy="1955800"/>
          </a:xfrm>
          <a:prstGeom prst="rect">
            <a:avLst/>
          </a:prstGeom>
          <a:solidFill>
            <a:srgbClr val="F6A3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2A23E1-9D9E-866B-3E39-2BFC9F539BA8}"/>
              </a:ext>
            </a:extLst>
          </p:cNvPr>
          <p:cNvSpPr txBox="1"/>
          <p:nvPr/>
        </p:nvSpPr>
        <p:spPr>
          <a:xfrm>
            <a:off x="939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老人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83F6D61-C0B7-9C1A-4986-B477A4904057}"/>
              </a:ext>
            </a:extLst>
          </p:cNvPr>
          <p:cNvSpPr txBox="1"/>
          <p:nvPr/>
        </p:nvSpPr>
        <p:spPr>
          <a:xfrm>
            <a:off x="939800" y="2438400"/>
            <a:ext cx="29718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被低打扰守护；关键时刻只完成一个简单动作。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128A46C-A507-ED6C-5DE9-F816729918EE}"/>
              </a:ext>
            </a:extLst>
          </p:cNvPr>
          <p:cNvSpPr/>
          <p:nvPr/>
        </p:nvSpPr>
        <p:spPr>
          <a:xfrm>
            <a:off x="4368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382166-ECD5-4981-6599-674929CB786E}"/>
              </a:ext>
            </a:extLst>
          </p:cNvPr>
          <p:cNvSpPr/>
          <p:nvPr/>
        </p:nvSpPr>
        <p:spPr>
          <a:xfrm>
            <a:off x="4368800" y="1701800"/>
            <a:ext cx="76200" cy="1955800"/>
          </a:xfrm>
          <a:prstGeom prst="rect">
            <a:avLst/>
          </a:prstGeom>
          <a:solidFill>
            <a:srgbClr val="1CB2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A12013-9CFA-E756-42A4-CB1558BDFD88}"/>
              </a:ext>
            </a:extLst>
          </p:cNvPr>
          <p:cNvSpPr txBox="1"/>
          <p:nvPr/>
        </p:nvSpPr>
        <p:spPr>
          <a:xfrm>
            <a:off x="4622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异地子女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EBF1E16-E950-C4AF-AD33-D3BD7628A6A2}"/>
              </a:ext>
            </a:extLst>
          </p:cNvPr>
          <p:cNvSpPr txBox="1"/>
          <p:nvPr/>
        </p:nvSpPr>
        <p:spPr>
          <a:xfrm>
            <a:off x="4622800" y="24384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查看具体证据和建议；完成关怀、身份核验或人工接管。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C05C2AB-EBD6-32FC-34BA-974E36EC47B0}"/>
              </a:ext>
            </a:extLst>
          </p:cNvPr>
          <p:cNvSpPr/>
          <p:nvPr/>
        </p:nvSpPr>
        <p:spPr>
          <a:xfrm>
            <a:off x="8051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DCB2CA-E679-8CD4-23C6-4909457A86B1}"/>
              </a:ext>
            </a:extLst>
          </p:cNvPr>
          <p:cNvSpPr/>
          <p:nvPr/>
        </p:nvSpPr>
        <p:spPr>
          <a:xfrm>
            <a:off x="8051800" y="1701800"/>
            <a:ext cx="76200" cy="1955800"/>
          </a:xfrm>
          <a:prstGeom prst="rect">
            <a:avLst/>
          </a:prstGeom>
          <a:solidFill>
            <a:srgbClr val="50D0C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8748B2-9632-3805-E55F-987166D61404}"/>
              </a:ext>
            </a:extLst>
          </p:cNvPr>
          <p:cNvSpPr txBox="1"/>
          <p:nvPr/>
        </p:nvSpPr>
        <p:spPr>
          <a:xfrm>
            <a:off x="8305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预警智能体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369895-A267-F7AC-0905-746A97DF987D}"/>
              </a:ext>
            </a:extLst>
          </p:cNvPr>
          <p:cNvSpPr txBox="1"/>
          <p:nvPr/>
        </p:nvSpPr>
        <p:spPr>
          <a:xfrm>
            <a:off x="8305800" y="24384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管理个人记忆、调用状态机、选择策略、编排工具与回落。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6EA955B-B52D-C90E-48FB-6A937396A130}"/>
              </a:ext>
            </a:extLst>
          </p:cNvPr>
          <p:cNvSpPr/>
          <p:nvPr/>
        </p:nvSpPr>
        <p:spPr>
          <a:xfrm>
            <a:off x="685800" y="38862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DBDAEA8-24D2-322C-A98D-C23B9B051E09}"/>
              </a:ext>
            </a:extLst>
          </p:cNvPr>
          <p:cNvSpPr/>
          <p:nvPr/>
        </p:nvSpPr>
        <p:spPr>
          <a:xfrm>
            <a:off x="685800" y="3886200"/>
            <a:ext cx="76200" cy="1955800"/>
          </a:xfrm>
          <a:prstGeom prst="rect">
            <a:avLst/>
          </a:prstGeom>
          <a:solidFill>
            <a:srgbClr val="4FC0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A5EEEE0-1349-0535-6E60-5EA2D57F406A}"/>
              </a:ext>
            </a:extLst>
          </p:cNvPr>
          <p:cNvSpPr txBox="1"/>
          <p:nvPr/>
        </p:nvSpPr>
        <p:spPr>
          <a:xfrm>
            <a:off x="939800" y="40894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萤石设备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1216152-CE70-C03A-A056-FDD38BF3D181}"/>
              </a:ext>
            </a:extLst>
          </p:cNvPr>
          <p:cNvSpPr txBox="1"/>
          <p:nvPr/>
        </p:nvSpPr>
        <p:spPr>
          <a:xfrm>
            <a:off x="939800" y="46228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提供视频输入、语音或对讲、消息等可验证工具能力。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8B6E510-E624-2C36-6C62-22E205AE1350}"/>
              </a:ext>
            </a:extLst>
          </p:cNvPr>
          <p:cNvSpPr/>
          <p:nvPr/>
        </p:nvSpPr>
        <p:spPr>
          <a:xfrm>
            <a:off x="4368800" y="38862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A6DC5A5-9E0C-822F-45CA-8ADB0F250DEB}"/>
              </a:ext>
            </a:extLst>
          </p:cNvPr>
          <p:cNvSpPr/>
          <p:nvPr/>
        </p:nvSpPr>
        <p:spPr>
          <a:xfrm>
            <a:off x="4368800" y="3886200"/>
            <a:ext cx="76200" cy="1955800"/>
          </a:xfrm>
          <a:prstGeom prst="rect">
            <a:avLst/>
          </a:prstGeom>
          <a:solidFill>
            <a:srgbClr val="F6A3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A536DCA-B788-44A9-1B7C-8C0E9E9B6F4A}"/>
              </a:ext>
            </a:extLst>
          </p:cNvPr>
          <p:cNvSpPr txBox="1"/>
          <p:nvPr/>
        </p:nvSpPr>
        <p:spPr>
          <a:xfrm>
            <a:off x="4622800" y="40894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统一后台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11A0406-08D2-B1BA-4D69-B1213A8C8BC3}"/>
              </a:ext>
            </a:extLst>
          </p:cNvPr>
          <p:cNvSpPr txBox="1"/>
          <p:nvPr/>
        </p:nvSpPr>
        <p:spPr>
          <a:xfrm>
            <a:off x="4622800" y="46228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一个老人档案、一个事件时间轴、一个风险状态机。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8AD6391-8492-8CEE-82F6-42EA0176E38B}"/>
              </a:ext>
            </a:extLst>
          </p:cNvPr>
          <p:cNvSpPr/>
          <p:nvPr/>
        </p:nvSpPr>
        <p:spPr>
          <a:xfrm>
            <a:off x="8051800" y="38862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8D4F006-5199-88AC-601C-3EC47CE7B5D9}"/>
              </a:ext>
            </a:extLst>
          </p:cNvPr>
          <p:cNvSpPr/>
          <p:nvPr/>
        </p:nvSpPr>
        <p:spPr>
          <a:xfrm>
            <a:off x="8051800" y="3886200"/>
            <a:ext cx="76200" cy="1955800"/>
          </a:xfrm>
          <a:prstGeom prst="rect">
            <a:avLst/>
          </a:prstGeom>
          <a:solidFill>
            <a:srgbClr val="E25B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74926E-8404-A05A-904E-6635F22A9DFA}"/>
              </a:ext>
            </a:extLst>
          </p:cNvPr>
          <p:cNvSpPr txBox="1"/>
          <p:nvPr/>
        </p:nvSpPr>
        <p:spPr>
          <a:xfrm>
            <a:off x="8305800" y="40894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人工专业支持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20F3063-94DF-2896-FD08-3A662949FB13}"/>
              </a:ext>
            </a:extLst>
          </p:cNvPr>
          <p:cNvSpPr txBox="1"/>
          <p:nvPr/>
        </p:nvSpPr>
        <p:spPr>
          <a:xfrm>
            <a:off x="8305800" y="46228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医学、心理与紧急问题由家属或专业人员最终处置。</a:t>
            </a:r>
          </a:p>
        </p:txBody>
      </p:sp>
    </p:spTree>
    <p:extLst>
      <p:ext uri="{BB962C8B-B14F-4D97-AF65-F5344CB8AC3E}">
        <p14:creationId xmlns:p14="http://schemas.microsoft.com/office/powerpoint/2010/main" val="226330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5012E78-183F-DC7B-78B2-FD116A55DC81}"/>
              </a:ext>
            </a:extLst>
          </p:cNvPr>
          <p:cNvSpPr txBox="1"/>
          <p:nvPr/>
        </p:nvSpPr>
        <p:spPr>
          <a:xfrm>
            <a:off x="685800" y="431800"/>
            <a:ext cx="1003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100-DAY USER JOURNEY</a:t>
            </a:r>
            <a:endParaRPr lang="zh-CN" altLang="en-US" sz="1000" b="1">
              <a:solidFill>
                <a:srgbClr val="1CB2A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148A90-2B65-E945-A9C1-DF496102969E}"/>
              </a:ext>
            </a:extLst>
          </p:cNvPr>
          <p:cNvSpPr txBox="1"/>
          <p:nvPr/>
        </p:nvSpPr>
        <p:spPr>
          <a:xfrm>
            <a:off x="685800" y="762000"/>
            <a:ext cx="1041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同一个人、同一套记忆、五个交互节点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E46578-AFFE-C392-4807-F9C5360AE69A}"/>
              </a:ext>
            </a:extLst>
          </p:cNvPr>
          <p:cNvSpPr txBox="1"/>
          <p:nvPr/>
        </p:nvSpPr>
        <p:spPr>
          <a:xfrm>
            <a:off x="11201400" y="482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900">
              <a:solidFill>
                <a:srgbClr val="B1C2C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E86F2DE-DAE4-A5E9-6D8D-F47BD07E07C0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 w="12700">
            <a:solidFill>
              <a:srgbClr val="2A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A9DF16D8-7110-0013-F4AF-BAF464D678F7}"/>
              </a:ext>
            </a:extLst>
          </p:cNvPr>
          <p:cNvSpPr txBox="1"/>
          <p:nvPr/>
        </p:nvSpPr>
        <p:spPr>
          <a:xfrm>
            <a:off x="685800" y="6553200"/>
            <a:ext cx="8890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萤目守望｜交互方法初步调研｜技术与交互讨论稿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0C665AB-F65A-CF29-8F24-C7B6558CE853}"/>
              </a:ext>
            </a:extLst>
          </p:cNvPr>
          <p:cNvSpPr/>
          <p:nvPr/>
        </p:nvSpPr>
        <p:spPr>
          <a:xfrm>
            <a:off x="685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9AD098-A72E-30D2-B5A0-8ADE4F44D71E}"/>
              </a:ext>
            </a:extLst>
          </p:cNvPr>
          <p:cNvSpPr/>
          <p:nvPr/>
        </p:nvSpPr>
        <p:spPr>
          <a:xfrm>
            <a:off x="685800" y="1701800"/>
            <a:ext cx="76200" cy="1955800"/>
          </a:xfrm>
          <a:prstGeom prst="rect">
            <a:avLst/>
          </a:prstGeom>
          <a:solidFill>
            <a:srgbClr val="1CB2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AA4292-089E-189A-E2DE-81C4F4689A13}"/>
              </a:ext>
            </a:extLst>
          </p:cNvPr>
          <p:cNvSpPr txBox="1"/>
          <p:nvPr/>
        </p:nvSpPr>
        <p:spPr>
          <a:xfrm>
            <a:off x="939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天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B9B538-29E7-6436-B9CC-674FF3C20833}"/>
              </a:ext>
            </a:extLst>
          </p:cNvPr>
          <p:cNvSpPr txBox="1"/>
          <p:nvPr/>
        </p:nvSpPr>
        <p:spPr>
          <a:xfrm>
            <a:off x="939800" y="24384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问卷、隐私授权、通知设置、家属语音与设备检测。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249B09E-DD80-05D0-AB55-482244B06199}"/>
              </a:ext>
            </a:extLst>
          </p:cNvPr>
          <p:cNvSpPr/>
          <p:nvPr/>
        </p:nvSpPr>
        <p:spPr>
          <a:xfrm>
            <a:off x="4368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03BEF8B-BA04-14FE-EE58-42A9F54CC684}"/>
              </a:ext>
            </a:extLst>
          </p:cNvPr>
          <p:cNvSpPr/>
          <p:nvPr/>
        </p:nvSpPr>
        <p:spPr>
          <a:xfrm>
            <a:off x="4368800" y="1701800"/>
            <a:ext cx="76200" cy="1955800"/>
          </a:xfrm>
          <a:prstGeom prst="rect">
            <a:avLst/>
          </a:prstGeom>
          <a:solidFill>
            <a:srgbClr val="1CB2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98EAE82-C9E8-48CA-EDA7-4D731C523C7E}"/>
              </a:ext>
            </a:extLst>
          </p:cNvPr>
          <p:cNvSpPr txBox="1"/>
          <p:nvPr/>
        </p:nvSpPr>
        <p:spPr>
          <a:xfrm>
            <a:off x="4622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1—70</a:t>
            </a:r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天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3031B88-DE97-E62B-9C9A-1F88D6033DAF}"/>
              </a:ext>
            </a:extLst>
          </p:cNvPr>
          <p:cNvSpPr txBox="1"/>
          <p:nvPr/>
        </p:nvSpPr>
        <p:spPr>
          <a:xfrm>
            <a:off x="4622800" y="2438400"/>
            <a:ext cx="29718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无感采集；建立短中长个人记忆与安全基线。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11730E9-F647-B87C-9FFB-C470F6956EF0}"/>
              </a:ext>
            </a:extLst>
          </p:cNvPr>
          <p:cNvSpPr/>
          <p:nvPr/>
        </p:nvSpPr>
        <p:spPr>
          <a:xfrm>
            <a:off x="8051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75B45FD-48B7-88F7-F7E5-565344B18554}"/>
              </a:ext>
            </a:extLst>
          </p:cNvPr>
          <p:cNvSpPr/>
          <p:nvPr/>
        </p:nvSpPr>
        <p:spPr>
          <a:xfrm>
            <a:off x="8051800" y="1701800"/>
            <a:ext cx="76200" cy="1955800"/>
          </a:xfrm>
          <a:prstGeom prst="rect">
            <a:avLst/>
          </a:prstGeom>
          <a:solidFill>
            <a:srgbClr val="F6A3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99F57C1-2A1A-E85A-35B5-A9AA6D79999D}"/>
              </a:ext>
            </a:extLst>
          </p:cNvPr>
          <p:cNvSpPr txBox="1"/>
          <p:nvPr/>
        </p:nvSpPr>
        <p:spPr>
          <a:xfrm>
            <a:off x="8305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71—90</a:t>
            </a:r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天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7D0657A-9E86-D6B9-316E-6A66D123AD5E}"/>
              </a:ext>
            </a:extLst>
          </p:cNvPr>
          <p:cNvSpPr txBox="1"/>
          <p:nvPr/>
        </p:nvSpPr>
        <p:spPr>
          <a:xfrm>
            <a:off x="8305800" y="24384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生活半径缩小；黄色周报；家属关怀与人工确认。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B6E3782-FE60-0FD4-E611-41DD6B158678}"/>
              </a:ext>
            </a:extLst>
          </p:cNvPr>
          <p:cNvSpPr/>
          <p:nvPr/>
        </p:nvSpPr>
        <p:spPr>
          <a:xfrm>
            <a:off x="685800" y="38862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CDD3B34-5722-D479-22AC-85842D0D1886}"/>
              </a:ext>
            </a:extLst>
          </p:cNvPr>
          <p:cNvSpPr/>
          <p:nvPr/>
        </p:nvSpPr>
        <p:spPr>
          <a:xfrm>
            <a:off x="685800" y="3886200"/>
            <a:ext cx="76200" cy="1955800"/>
          </a:xfrm>
          <a:prstGeom prst="rect">
            <a:avLst/>
          </a:prstGeom>
          <a:solidFill>
            <a:srgbClr val="F6A3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85ABAB-6F12-D9A1-B546-890051CDCEE4}"/>
              </a:ext>
            </a:extLst>
          </p:cNvPr>
          <p:cNvSpPr txBox="1"/>
          <p:nvPr/>
        </p:nvSpPr>
        <p:spPr>
          <a:xfrm>
            <a:off x="939800" y="40894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96</a:t>
            </a:r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天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FB5096-0BF0-DBB5-40BE-B896B2E78E85}"/>
              </a:ext>
            </a:extLst>
          </p:cNvPr>
          <p:cNvSpPr txBox="1"/>
          <p:nvPr/>
        </p:nvSpPr>
        <p:spPr>
          <a:xfrm>
            <a:off x="939800" y="4622800"/>
            <a:ext cx="29718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陌生来访；多证据聚合；家属身份核验。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EA64264-5498-7132-145B-A62CA4185741}"/>
              </a:ext>
            </a:extLst>
          </p:cNvPr>
          <p:cNvSpPr/>
          <p:nvPr/>
        </p:nvSpPr>
        <p:spPr>
          <a:xfrm>
            <a:off x="4368800" y="38862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83CA79C-FCBF-AB72-2524-47B699C24720}"/>
              </a:ext>
            </a:extLst>
          </p:cNvPr>
          <p:cNvSpPr/>
          <p:nvPr/>
        </p:nvSpPr>
        <p:spPr>
          <a:xfrm>
            <a:off x="4368800" y="3886200"/>
            <a:ext cx="76200" cy="1955800"/>
          </a:xfrm>
          <a:prstGeom prst="rect">
            <a:avLst/>
          </a:prstGeom>
          <a:solidFill>
            <a:srgbClr val="4FC0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39A2A6B-505A-2C37-CC69-150E9008BCB4}"/>
              </a:ext>
            </a:extLst>
          </p:cNvPr>
          <p:cNvSpPr txBox="1"/>
          <p:nvPr/>
        </p:nvSpPr>
        <p:spPr>
          <a:xfrm>
            <a:off x="4622800" y="40894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</a:t>
            </a:r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天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F21877F-02AB-35A9-1F4E-64C35353F682}"/>
              </a:ext>
            </a:extLst>
          </p:cNvPr>
          <p:cNvSpPr txBox="1"/>
          <p:nvPr/>
        </p:nvSpPr>
        <p:spPr>
          <a:xfrm>
            <a:off x="4622800" y="46228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快速起身与摇晃；语音干预；姿态恢复；风险回落。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B189D1C-53B4-198E-C740-F12B5234A659}"/>
              </a:ext>
            </a:extLst>
          </p:cNvPr>
          <p:cNvSpPr txBox="1"/>
          <p:nvPr/>
        </p:nvSpPr>
        <p:spPr>
          <a:xfrm>
            <a:off x="685800" y="5943600"/>
            <a:ext cx="10820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跌倒建立通用范式；心理与诈骗只增加</a:t>
            </a:r>
            <a:r>
              <a:rPr lang="en-US" altLang="zh-CN" sz="13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Evidence</a:t>
            </a:r>
            <a:r>
              <a:rPr lang="zh-CN" altLang="en-US" sz="13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适配器。</a:t>
            </a:r>
          </a:p>
        </p:txBody>
      </p:sp>
    </p:spTree>
    <p:extLst>
      <p:ext uri="{BB962C8B-B14F-4D97-AF65-F5344CB8AC3E}">
        <p14:creationId xmlns:p14="http://schemas.microsoft.com/office/powerpoint/2010/main" val="3327187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36B8E76-B10E-E7E8-CFB5-5109F13EA7F3}"/>
              </a:ext>
            </a:extLst>
          </p:cNvPr>
          <p:cNvSpPr txBox="1"/>
          <p:nvPr/>
        </p:nvSpPr>
        <p:spPr>
          <a:xfrm>
            <a:off x="685800" y="431800"/>
            <a:ext cx="1003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ACT 0</a:t>
            </a:r>
            <a:r>
              <a:rPr lang="zh-CN" altLang="en-US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ONBOARDING</a:t>
            </a:r>
            <a:endParaRPr lang="zh-CN" altLang="en-US" sz="1000" b="1">
              <a:solidFill>
                <a:srgbClr val="1CB2A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358A70-C3B9-FDE5-FE06-B8A74CBEDB03}"/>
              </a:ext>
            </a:extLst>
          </p:cNvPr>
          <p:cNvSpPr txBox="1"/>
          <p:nvPr/>
        </p:nvSpPr>
        <p:spPr>
          <a:xfrm>
            <a:off x="685800" y="762000"/>
            <a:ext cx="1041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第零幕：安装、授权与冷启动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663429-F5BB-D029-3241-A42FD6B2482E}"/>
              </a:ext>
            </a:extLst>
          </p:cNvPr>
          <p:cNvSpPr txBox="1"/>
          <p:nvPr/>
        </p:nvSpPr>
        <p:spPr>
          <a:xfrm>
            <a:off x="11201400" y="482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900">
              <a:solidFill>
                <a:srgbClr val="B1C2C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AF20B40-8EF4-CECE-8C58-EFC7DEC5A11D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 w="12700">
            <a:solidFill>
              <a:srgbClr val="2A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EC6900F-216C-3356-A453-AC5437FF3DE2}"/>
              </a:ext>
            </a:extLst>
          </p:cNvPr>
          <p:cNvSpPr txBox="1"/>
          <p:nvPr/>
        </p:nvSpPr>
        <p:spPr>
          <a:xfrm>
            <a:off x="685800" y="6553200"/>
            <a:ext cx="8890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萤目守望｜交互方法初步调研｜技术与交互讨论稿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5161018-E85A-D53B-9392-91A8D9AC84F6}"/>
              </a:ext>
            </a:extLst>
          </p:cNvPr>
          <p:cNvSpPr/>
          <p:nvPr/>
        </p:nvSpPr>
        <p:spPr>
          <a:xfrm>
            <a:off x="685800" y="1803400"/>
            <a:ext cx="3454400" cy="34290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B869A6-85E8-7F70-2EEA-FAC39678A070}"/>
              </a:ext>
            </a:extLst>
          </p:cNvPr>
          <p:cNvSpPr/>
          <p:nvPr/>
        </p:nvSpPr>
        <p:spPr>
          <a:xfrm>
            <a:off x="685800" y="1803400"/>
            <a:ext cx="76200" cy="3429000"/>
          </a:xfrm>
          <a:prstGeom prst="rect">
            <a:avLst/>
          </a:prstGeom>
          <a:solidFill>
            <a:srgbClr val="1CB2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4B592D-5730-4025-9F39-7D6B5BB81618}"/>
              </a:ext>
            </a:extLst>
          </p:cNvPr>
          <p:cNvSpPr txBox="1"/>
          <p:nvPr/>
        </p:nvSpPr>
        <p:spPr>
          <a:xfrm>
            <a:off x="939800" y="20066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女儿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5ACC8D7-4615-39A9-D737-38EBAE7B4F94}"/>
              </a:ext>
            </a:extLst>
          </p:cNvPr>
          <p:cNvSpPr txBox="1"/>
          <p:nvPr/>
        </p:nvSpPr>
        <p:spPr>
          <a:xfrm>
            <a:off x="939800" y="25400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填写</a:t>
            </a:r>
            <a:r>
              <a:rPr lang="en-US" altLang="zh-CN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分钟问卷；设置联系人；录制家属提醒短句。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87AFCAD-44B6-5CEB-3000-42EA7035808B}"/>
              </a:ext>
            </a:extLst>
          </p:cNvPr>
          <p:cNvSpPr/>
          <p:nvPr/>
        </p:nvSpPr>
        <p:spPr>
          <a:xfrm>
            <a:off x="4368800" y="1803400"/>
            <a:ext cx="3454400" cy="34290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F4D7BF-5680-F775-C5CE-CD22E1D75847}"/>
              </a:ext>
            </a:extLst>
          </p:cNvPr>
          <p:cNvSpPr/>
          <p:nvPr/>
        </p:nvSpPr>
        <p:spPr>
          <a:xfrm>
            <a:off x="4368800" y="1803400"/>
            <a:ext cx="76200" cy="3429000"/>
          </a:xfrm>
          <a:prstGeom prst="rect">
            <a:avLst/>
          </a:prstGeom>
          <a:solidFill>
            <a:srgbClr val="F6A3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703B1F-C5A4-B69F-6532-5104A3C45A93}"/>
              </a:ext>
            </a:extLst>
          </p:cNvPr>
          <p:cNvSpPr txBox="1"/>
          <p:nvPr/>
        </p:nvSpPr>
        <p:spPr>
          <a:xfrm>
            <a:off x="4622800" y="20066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老人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86DC615-715F-F501-27E9-28C029048FEF}"/>
              </a:ext>
            </a:extLst>
          </p:cNvPr>
          <p:cNvSpPr txBox="1"/>
          <p:nvPr/>
        </p:nvSpPr>
        <p:spPr>
          <a:xfrm>
            <a:off x="4622800" y="25400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确认隐私范围、提醒方式和授权；无需每天主动操作。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C2A5C6A-F0D1-F989-39F8-268F88CABEC2}"/>
              </a:ext>
            </a:extLst>
          </p:cNvPr>
          <p:cNvSpPr/>
          <p:nvPr/>
        </p:nvSpPr>
        <p:spPr>
          <a:xfrm>
            <a:off x="8051800" y="1803400"/>
            <a:ext cx="3454400" cy="34290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F0565F-A188-D986-1D84-3AF11CDFFE47}"/>
              </a:ext>
            </a:extLst>
          </p:cNvPr>
          <p:cNvSpPr/>
          <p:nvPr/>
        </p:nvSpPr>
        <p:spPr>
          <a:xfrm>
            <a:off x="8051800" y="1803400"/>
            <a:ext cx="76200" cy="3429000"/>
          </a:xfrm>
          <a:prstGeom prst="rect">
            <a:avLst/>
          </a:prstGeom>
          <a:solidFill>
            <a:srgbClr val="4FC0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0264DD2-5180-3184-AB9C-854B16C30EC1}"/>
              </a:ext>
            </a:extLst>
          </p:cNvPr>
          <p:cNvSpPr txBox="1"/>
          <p:nvPr/>
        </p:nvSpPr>
        <p:spPr>
          <a:xfrm>
            <a:off x="8305800" y="20066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8BDF2B-BB24-B4FF-004F-D30522ACD814}"/>
              </a:ext>
            </a:extLst>
          </p:cNvPr>
          <p:cNvSpPr txBox="1"/>
          <p:nvPr/>
        </p:nvSpPr>
        <p:spPr>
          <a:xfrm>
            <a:off x="8305800" y="25400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创建档案；保存配置；测试设备、消息和语音链路。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702A667-1564-8FC3-8FE9-67520C6A26FC}"/>
              </a:ext>
            </a:extLst>
          </p:cNvPr>
          <p:cNvSpPr/>
          <p:nvPr/>
        </p:nvSpPr>
        <p:spPr>
          <a:xfrm>
            <a:off x="685800" y="5461000"/>
            <a:ext cx="10820400" cy="609600"/>
          </a:xfrm>
          <a:prstGeom prst="roundRect">
            <a:avLst/>
          </a:prstGeom>
          <a:solidFill>
            <a:srgbClr val="2A435E"/>
          </a:solidFill>
          <a:ln w="12700">
            <a:solidFill>
              <a:srgbClr val="F6A3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6AB0709-058F-2EE6-DF7A-1D0E5243BC50}"/>
              </a:ext>
            </a:extLst>
          </p:cNvPr>
          <p:cNvSpPr txBox="1"/>
          <p:nvPr/>
        </p:nvSpPr>
        <p:spPr>
          <a:xfrm>
            <a:off x="939800" y="5638800"/>
            <a:ext cx="1031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F6A3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待验证：萤石能否主动播放预录语音或</a:t>
            </a:r>
            <a:r>
              <a:rPr lang="en-US" altLang="zh-CN" sz="1200" b="1">
                <a:solidFill>
                  <a:srgbClr val="F6A3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TTS</a:t>
            </a:r>
            <a:r>
              <a:rPr lang="zh-CN" altLang="en-US" sz="1200" b="1">
                <a:solidFill>
                  <a:srgbClr val="F6A3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；不能时采用本地替代方案。</a:t>
            </a:r>
          </a:p>
        </p:txBody>
      </p:sp>
    </p:spTree>
    <p:extLst>
      <p:ext uri="{BB962C8B-B14F-4D97-AF65-F5344CB8AC3E}">
        <p14:creationId xmlns:p14="http://schemas.microsoft.com/office/powerpoint/2010/main" val="718537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B584254-9757-B7DF-F93E-4C94840168BF}"/>
              </a:ext>
            </a:extLst>
          </p:cNvPr>
          <p:cNvSpPr txBox="1"/>
          <p:nvPr/>
        </p:nvSpPr>
        <p:spPr>
          <a:xfrm>
            <a:off x="685800" y="431800"/>
            <a:ext cx="1003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ACT 1</a:t>
            </a:r>
            <a:r>
              <a:rPr lang="zh-CN" altLang="en-US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PERSONAL BASELINE</a:t>
            </a:r>
            <a:endParaRPr lang="zh-CN" altLang="en-US" sz="1000" b="1">
              <a:solidFill>
                <a:srgbClr val="1CB2A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F3A283-E80C-C5CF-8DBD-09090367799A}"/>
              </a:ext>
            </a:extLst>
          </p:cNvPr>
          <p:cNvSpPr txBox="1"/>
          <p:nvPr/>
        </p:nvSpPr>
        <p:spPr>
          <a:xfrm>
            <a:off x="685800" y="762000"/>
            <a:ext cx="1041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第一幕：无感监测，学习“平常安全的样子”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3DA3AB-4CC0-A6E3-AC34-9FF8D7E3EBF8}"/>
              </a:ext>
            </a:extLst>
          </p:cNvPr>
          <p:cNvSpPr txBox="1"/>
          <p:nvPr/>
        </p:nvSpPr>
        <p:spPr>
          <a:xfrm>
            <a:off x="11201400" y="482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900">
              <a:solidFill>
                <a:srgbClr val="B1C2C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592CC4-8CE9-70FB-3BD6-EA62C28B79B8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 w="12700">
            <a:solidFill>
              <a:srgbClr val="2A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B755266-F6AC-8230-DEF8-F417F04C963C}"/>
              </a:ext>
            </a:extLst>
          </p:cNvPr>
          <p:cNvSpPr txBox="1"/>
          <p:nvPr/>
        </p:nvSpPr>
        <p:spPr>
          <a:xfrm>
            <a:off x="685800" y="6553200"/>
            <a:ext cx="8890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萤目守望｜交互方法初步调研｜技术与交互讨论稿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2183972-184E-EE35-BCC1-B81DD4EA8FE9}"/>
              </a:ext>
            </a:extLst>
          </p:cNvPr>
          <p:cNvSpPr/>
          <p:nvPr/>
        </p:nvSpPr>
        <p:spPr>
          <a:xfrm>
            <a:off x="685800" y="1803400"/>
            <a:ext cx="3454400" cy="34290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E40CC1-4058-2EA4-1E6A-647D9A9FB8A4}"/>
              </a:ext>
            </a:extLst>
          </p:cNvPr>
          <p:cNvSpPr/>
          <p:nvPr/>
        </p:nvSpPr>
        <p:spPr>
          <a:xfrm>
            <a:off x="685800" y="1803400"/>
            <a:ext cx="76200" cy="3429000"/>
          </a:xfrm>
          <a:prstGeom prst="rect">
            <a:avLst/>
          </a:prstGeom>
          <a:solidFill>
            <a:srgbClr val="F6A3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555321-DEB7-3D17-98BA-FA10E97FCCBC}"/>
              </a:ext>
            </a:extLst>
          </p:cNvPr>
          <p:cNvSpPr txBox="1"/>
          <p:nvPr/>
        </p:nvSpPr>
        <p:spPr>
          <a:xfrm>
            <a:off x="939800" y="20066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短时｜</a:t>
            </a:r>
            <a:r>
              <a:rPr lang="en-US" altLang="zh-CN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秒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970F92-BCCA-2992-5DBB-3505ADB17163}"/>
              </a:ext>
            </a:extLst>
          </p:cNvPr>
          <p:cNvSpPr txBox="1"/>
          <p:nvPr/>
        </p:nvSpPr>
        <p:spPr>
          <a:xfrm>
            <a:off x="939800" y="25400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快速起身、躯干摇晃、进入高风险区域；服务临近危险判断。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DD3454A-DA79-C774-4372-512DF782E036}"/>
              </a:ext>
            </a:extLst>
          </p:cNvPr>
          <p:cNvSpPr/>
          <p:nvPr/>
        </p:nvSpPr>
        <p:spPr>
          <a:xfrm>
            <a:off x="4368800" y="1803400"/>
            <a:ext cx="3454400" cy="34290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33085A-CC99-9A9C-6A4E-0B52478D3735}"/>
              </a:ext>
            </a:extLst>
          </p:cNvPr>
          <p:cNvSpPr/>
          <p:nvPr/>
        </p:nvSpPr>
        <p:spPr>
          <a:xfrm>
            <a:off x="4368800" y="1803400"/>
            <a:ext cx="76200" cy="3429000"/>
          </a:xfrm>
          <a:prstGeom prst="rect">
            <a:avLst/>
          </a:prstGeom>
          <a:solidFill>
            <a:srgbClr val="1CB2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5CBAFD1-EAD4-14B6-99DD-60F6BD6604E4}"/>
              </a:ext>
            </a:extLst>
          </p:cNvPr>
          <p:cNvSpPr txBox="1"/>
          <p:nvPr/>
        </p:nvSpPr>
        <p:spPr>
          <a:xfrm>
            <a:off x="4622800" y="20066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中时｜</a:t>
            </a:r>
            <a:r>
              <a:rPr lang="en-US" altLang="zh-CN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24</a:t>
            </a:r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9CD67BC-ACCD-2297-8417-DA045A557F95}"/>
              </a:ext>
            </a:extLst>
          </p:cNvPr>
          <p:cNvSpPr txBox="1"/>
          <p:nvPr/>
        </p:nvSpPr>
        <p:spPr>
          <a:xfrm>
            <a:off x="4622800" y="25400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当日状态、连续异常、夜间和低照度；服务今日风险判断。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BA5967D-7871-C45C-14A4-E242996EF40F}"/>
              </a:ext>
            </a:extLst>
          </p:cNvPr>
          <p:cNvSpPr/>
          <p:nvPr/>
        </p:nvSpPr>
        <p:spPr>
          <a:xfrm>
            <a:off x="8051800" y="1803400"/>
            <a:ext cx="3454400" cy="34290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651C85A-EDC4-2A75-B733-BC25DB471D27}"/>
              </a:ext>
            </a:extLst>
          </p:cNvPr>
          <p:cNvSpPr/>
          <p:nvPr/>
        </p:nvSpPr>
        <p:spPr>
          <a:xfrm>
            <a:off x="8051800" y="1803400"/>
            <a:ext cx="76200" cy="3429000"/>
          </a:xfrm>
          <a:prstGeom prst="rect">
            <a:avLst/>
          </a:prstGeom>
          <a:solidFill>
            <a:srgbClr val="4FC0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F85732D-B69E-D4D0-3890-F459D6DC466F}"/>
              </a:ext>
            </a:extLst>
          </p:cNvPr>
          <p:cNvSpPr txBox="1"/>
          <p:nvPr/>
        </p:nvSpPr>
        <p:spPr>
          <a:xfrm>
            <a:off x="8305800" y="20066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长时｜</a:t>
            </a:r>
            <a:r>
              <a:rPr lang="en-US" altLang="zh-CN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天以上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5B1343-D852-4B12-26C8-9C1B1108543A}"/>
              </a:ext>
            </a:extLst>
          </p:cNvPr>
          <p:cNvSpPr txBox="1"/>
          <p:nvPr/>
        </p:nvSpPr>
        <p:spPr>
          <a:xfrm>
            <a:off x="8305800" y="25400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起身、步态、活动、作息和正常访客；服务个人趋势判断。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57BB5D1-760C-32FC-9845-7D37D401F0B5}"/>
              </a:ext>
            </a:extLst>
          </p:cNvPr>
          <p:cNvSpPr txBox="1"/>
          <p:nvPr/>
        </p:nvSpPr>
        <p:spPr>
          <a:xfrm>
            <a:off x="685800" y="5461000"/>
            <a:ext cx="635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老人无需操作｜家属只看基线进度和设备状态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65A7C45-B8C9-45BE-3839-3CAF446089AB}"/>
              </a:ext>
            </a:extLst>
          </p:cNvPr>
          <p:cNvSpPr txBox="1"/>
          <p:nvPr/>
        </p:nvSpPr>
        <p:spPr>
          <a:xfrm>
            <a:off x="7112000" y="5461000"/>
            <a:ext cx="4394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 b="1">
                <a:solidFill>
                  <a:srgbClr val="F6A3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待验证：</a:t>
            </a:r>
            <a:r>
              <a:rPr lang="en-US" altLang="zh-CN" sz="1100" b="1">
                <a:solidFill>
                  <a:srgbClr val="F6A3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MAD</a:t>
            </a:r>
            <a:r>
              <a:rPr lang="zh-CN" altLang="en-US" sz="1100" b="1">
                <a:solidFill>
                  <a:srgbClr val="F6A3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100" b="1">
                <a:solidFill>
                  <a:srgbClr val="F6A3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EWMA</a:t>
            </a:r>
            <a:r>
              <a:rPr lang="zh-CN" altLang="en-US" sz="1100" b="1">
                <a:solidFill>
                  <a:srgbClr val="F6A3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或其他稳健基线方法</a:t>
            </a:r>
          </a:p>
        </p:txBody>
      </p:sp>
    </p:spTree>
    <p:extLst>
      <p:ext uri="{BB962C8B-B14F-4D97-AF65-F5344CB8AC3E}">
        <p14:creationId xmlns:p14="http://schemas.microsoft.com/office/powerpoint/2010/main" val="194832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DFF3BCA-976D-17B2-4F52-6FEB864B03E7}"/>
              </a:ext>
            </a:extLst>
          </p:cNvPr>
          <p:cNvSpPr txBox="1"/>
          <p:nvPr/>
        </p:nvSpPr>
        <p:spPr>
          <a:xfrm>
            <a:off x="685800" y="431800"/>
            <a:ext cx="1003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ACT 2</a:t>
            </a:r>
            <a:r>
              <a:rPr lang="zh-CN" altLang="en-US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MENTAL HEALTH ADAPTER</a:t>
            </a:r>
            <a:endParaRPr lang="zh-CN" altLang="en-US" sz="1000" b="1">
              <a:solidFill>
                <a:srgbClr val="1CB2A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862C13-AFAA-F92C-0F60-4F6B7A698336}"/>
              </a:ext>
            </a:extLst>
          </p:cNvPr>
          <p:cNvSpPr txBox="1"/>
          <p:nvPr/>
        </p:nvSpPr>
        <p:spPr>
          <a:xfrm>
            <a:off x="685800" y="762000"/>
            <a:ext cx="1041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第二幕：系统看到行为变化，女儿听见父亲的情绪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62DCAF-8CA3-175C-3575-9BE1FD09D099}"/>
              </a:ext>
            </a:extLst>
          </p:cNvPr>
          <p:cNvSpPr txBox="1"/>
          <p:nvPr/>
        </p:nvSpPr>
        <p:spPr>
          <a:xfrm>
            <a:off x="11201400" y="482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900">
              <a:solidFill>
                <a:srgbClr val="B1C2C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3F06CEA-02CD-F9AD-976A-7F9C4BCA50BC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 w="12700">
            <a:solidFill>
              <a:srgbClr val="2A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61EBE090-77D5-8915-8057-75B9AAB12282}"/>
              </a:ext>
            </a:extLst>
          </p:cNvPr>
          <p:cNvSpPr txBox="1"/>
          <p:nvPr/>
        </p:nvSpPr>
        <p:spPr>
          <a:xfrm>
            <a:off x="685800" y="6553200"/>
            <a:ext cx="8890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萤目守望｜交互方法初步调研｜技术与交互讨论稿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0096457-4526-CF33-6383-2CEF5CD149E6}"/>
              </a:ext>
            </a:extLst>
          </p:cNvPr>
          <p:cNvSpPr/>
          <p:nvPr/>
        </p:nvSpPr>
        <p:spPr>
          <a:xfrm>
            <a:off x="685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041258-090A-75C5-C3C4-49AAE759A967}"/>
              </a:ext>
            </a:extLst>
          </p:cNvPr>
          <p:cNvSpPr/>
          <p:nvPr/>
        </p:nvSpPr>
        <p:spPr>
          <a:xfrm>
            <a:off x="685800" y="1701800"/>
            <a:ext cx="76200" cy="1955800"/>
          </a:xfrm>
          <a:prstGeom prst="rect">
            <a:avLst/>
          </a:prstGeom>
          <a:solidFill>
            <a:srgbClr val="1CB2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A89A3B-6940-B5FB-7A3B-A341B15CA617}"/>
              </a:ext>
            </a:extLst>
          </p:cNvPr>
          <p:cNvSpPr txBox="1"/>
          <p:nvPr/>
        </p:nvSpPr>
        <p:spPr>
          <a:xfrm>
            <a:off x="939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行为变化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C446EB-6CE1-E576-E62F-A2CB6A98EF93}"/>
              </a:ext>
            </a:extLst>
          </p:cNvPr>
          <p:cNvSpPr txBox="1"/>
          <p:nvPr/>
        </p:nvSpPr>
        <p:spPr>
          <a:xfrm>
            <a:off x="939800" y="24384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活动范围、房间转换、昼夜节律持续偏离个人基线。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F91DF50-20D6-308E-D396-D91F90350DA3}"/>
              </a:ext>
            </a:extLst>
          </p:cNvPr>
          <p:cNvSpPr/>
          <p:nvPr/>
        </p:nvSpPr>
        <p:spPr>
          <a:xfrm>
            <a:off x="4368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DF94C3C-5DFD-591D-C009-955D5814E57F}"/>
              </a:ext>
            </a:extLst>
          </p:cNvPr>
          <p:cNvSpPr/>
          <p:nvPr/>
        </p:nvSpPr>
        <p:spPr>
          <a:xfrm>
            <a:off x="4368800" y="1701800"/>
            <a:ext cx="76200" cy="1955800"/>
          </a:xfrm>
          <a:prstGeom prst="rect">
            <a:avLst/>
          </a:prstGeom>
          <a:solidFill>
            <a:srgbClr val="F6A3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3D8E197-3E31-5733-331D-468C86CF308E}"/>
              </a:ext>
            </a:extLst>
          </p:cNvPr>
          <p:cNvSpPr txBox="1"/>
          <p:nvPr/>
        </p:nvSpPr>
        <p:spPr>
          <a:xfrm>
            <a:off x="4622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黄色周报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63C1BF1-E21E-CA2B-44C1-1A4A484A23C7}"/>
              </a:ext>
            </a:extLst>
          </p:cNvPr>
          <p:cNvSpPr txBox="1"/>
          <p:nvPr/>
        </p:nvSpPr>
        <p:spPr>
          <a:xfrm>
            <a:off x="4622800" y="24384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不在老人侧报警；向家属说明变化并建议主动联系。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123B500-670D-504C-799E-F969E28C2E6D}"/>
              </a:ext>
            </a:extLst>
          </p:cNvPr>
          <p:cNvSpPr/>
          <p:nvPr/>
        </p:nvSpPr>
        <p:spPr>
          <a:xfrm>
            <a:off x="8051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1DCB116-5D16-5380-51F8-BEFBC78946C3}"/>
              </a:ext>
            </a:extLst>
          </p:cNvPr>
          <p:cNvSpPr/>
          <p:nvPr/>
        </p:nvSpPr>
        <p:spPr>
          <a:xfrm>
            <a:off x="8051800" y="1701800"/>
            <a:ext cx="76200" cy="1955800"/>
          </a:xfrm>
          <a:prstGeom prst="rect">
            <a:avLst/>
          </a:prstGeom>
          <a:solidFill>
            <a:srgbClr val="50D0C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3C5571A-CA5D-FE9A-626C-2758D6177F5A}"/>
              </a:ext>
            </a:extLst>
          </p:cNvPr>
          <p:cNvSpPr txBox="1"/>
          <p:nvPr/>
        </p:nvSpPr>
        <p:spPr>
          <a:xfrm>
            <a:off x="8305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人工确认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3E74CAA-8B74-4480-940D-A09F4CD301C2}"/>
              </a:ext>
            </a:extLst>
          </p:cNvPr>
          <p:cNvSpPr txBox="1"/>
          <p:nvPr/>
        </p:nvSpPr>
        <p:spPr>
          <a:xfrm>
            <a:off x="8305800" y="24384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老人自述、家属反馈和经本人同意的简短风险筛查。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F7EB3BE-E998-FA44-B947-56BAF6C0A41D}"/>
              </a:ext>
            </a:extLst>
          </p:cNvPr>
          <p:cNvSpPr/>
          <p:nvPr/>
        </p:nvSpPr>
        <p:spPr>
          <a:xfrm>
            <a:off x="685800" y="38862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DAD228F-F0EF-FF97-1D78-FE136B323773}"/>
              </a:ext>
            </a:extLst>
          </p:cNvPr>
          <p:cNvSpPr/>
          <p:nvPr/>
        </p:nvSpPr>
        <p:spPr>
          <a:xfrm>
            <a:off x="685800" y="3886200"/>
            <a:ext cx="76200" cy="1955800"/>
          </a:xfrm>
          <a:prstGeom prst="rect">
            <a:avLst/>
          </a:prstGeom>
          <a:solidFill>
            <a:srgbClr val="4FC0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1F3B30-EA5D-E534-F73B-6216FAD4D368}"/>
              </a:ext>
            </a:extLst>
          </p:cNvPr>
          <p:cNvSpPr txBox="1"/>
          <p:nvPr/>
        </p:nvSpPr>
        <p:spPr>
          <a:xfrm>
            <a:off x="939800" y="40894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行动建议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C717747-6D49-3828-579C-B237C6EAB292}"/>
              </a:ext>
            </a:extLst>
          </p:cNvPr>
          <p:cNvSpPr txBox="1"/>
          <p:nvPr/>
        </p:nvSpPr>
        <p:spPr>
          <a:xfrm>
            <a:off x="939800" y="46228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持续关怀；必要时建议家庭医生或专业人员进一步评估。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5CEF4A6-C70F-912F-95B8-52CCCA17DE79}"/>
              </a:ext>
            </a:extLst>
          </p:cNvPr>
          <p:cNvSpPr/>
          <p:nvPr/>
        </p:nvSpPr>
        <p:spPr>
          <a:xfrm>
            <a:off x="4368800" y="38862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9875F8-B93A-2C5B-E03F-2BE7B33640EF}"/>
              </a:ext>
            </a:extLst>
          </p:cNvPr>
          <p:cNvSpPr/>
          <p:nvPr/>
        </p:nvSpPr>
        <p:spPr>
          <a:xfrm>
            <a:off x="4368800" y="3886200"/>
            <a:ext cx="76200" cy="1955800"/>
          </a:xfrm>
          <a:prstGeom prst="rect">
            <a:avLst/>
          </a:prstGeom>
          <a:solidFill>
            <a:srgbClr val="4FC0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93D4347-D6DC-33D8-4BF8-CBC25137350A}"/>
              </a:ext>
            </a:extLst>
          </p:cNvPr>
          <p:cNvSpPr txBox="1"/>
          <p:nvPr/>
        </p:nvSpPr>
        <p:spPr>
          <a:xfrm>
            <a:off x="4622800" y="40894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回落复核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3702D42-7E6E-80EE-EE1E-47FB9930AA3D}"/>
              </a:ext>
            </a:extLst>
          </p:cNvPr>
          <p:cNvSpPr txBox="1"/>
          <p:nvPr/>
        </p:nvSpPr>
        <p:spPr>
          <a:xfrm>
            <a:off x="4622800" y="46228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结合后续趋势和家属反馈；持续异常则保持黄色。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75BCB70-C870-69C8-6588-F68BD1CEC9CC}"/>
              </a:ext>
            </a:extLst>
          </p:cNvPr>
          <p:cNvSpPr/>
          <p:nvPr/>
        </p:nvSpPr>
        <p:spPr>
          <a:xfrm>
            <a:off x="8051800" y="38862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9A49C59-AB17-5AAE-6220-0614DF43E0F0}"/>
              </a:ext>
            </a:extLst>
          </p:cNvPr>
          <p:cNvSpPr/>
          <p:nvPr/>
        </p:nvSpPr>
        <p:spPr>
          <a:xfrm>
            <a:off x="8051800" y="3886200"/>
            <a:ext cx="76200" cy="1955800"/>
          </a:xfrm>
          <a:prstGeom prst="rect">
            <a:avLst/>
          </a:prstGeom>
          <a:solidFill>
            <a:srgbClr val="E25B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5F2DB67-4F0D-66EC-192C-AEF0E2CCE935}"/>
              </a:ext>
            </a:extLst>
          </p:cNvPr>
          <p:cNvSpPr txBox="1"/>
          <p:nvPr/>
        </p:nvSpPr>
        <p:spPr>
          <a:xfrm>
            <a:off x="8305800" y="40894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边界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AE2F21F-002D-BF9C-7F09-BE10B71BD135}"/>
              </a:ext>
            </a:extLst>
          </p:cNvPr>
          <p:cNvSpPr txBox="1"/>
          <p:nvPr/>
        </p:nvSpPr>
        <p:spPr>
          <a:xfrm>
            <a:off x="8305800" y="46228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一期最高自动黄色；不诊断抑郁症、认知症或</a:t>
            </a:r>
            <a:r>
              <a:rPr lang="en-US" altLang="zh-CN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MCR</a:t>
            </a:r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84188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497BFE7-0DC0-FE97-1250-A98A5FA7A0B0}"/>
              </a:ext>
            </a:extLst>
          </p:cNvPr>
          <p:cNvSpPr txBox="1"/>
          <p:nvPr/>
        </p:nvSpPr>
        <p:spPr>
          <a:xfrm>
            <a:off x="685800" y="431800"/>
            <a:ext cx="1003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ACT 3</a:t>
            </a:r>
            <a:r>
              <a:rPr lang="zh-CN" altLang="en-US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FRAUD ADAPTER</a:t>
            </a:r>
            <a:endParaRPr lang="zh-CN" altLang="en-US" sz="1000" b="1">
              <a:solidFill>
                <a:srgbClr val="1CB2A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754AC4-5410-5848-F3F3-355B40547E72}"/>
              </a:ext>
            </a:extLst>
          </p:cNvPr>
          <p:cNvSpPr txBox="1"/>
          <p:nvPr/>
        </p:nvSpPr>
        <p:spPr>
          <a:xfrm>
            <a:off x="685800" y="762000"/>
            <a:ext cx="1041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第三幕：陌生来访不等于诈骗，多证据才进入核验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3B4692-F9B1-DA3A-586C-348FBBF14815}"/>
              </a:ext>
            </a:extLst>
          </p:cNvPr>
          <p:cNvSpPr txBox="1"/>
          <p:nvPr/>
        </p:nvSpPr>
        <p:spPr>
          <a:xfrm>
            <a:off x="11201400" y="482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</a:t>
            </a:r>
            <a:endParaRPr lang="zh-CN" altLang="en-US" sz="900">
              <a:solidFill>
                <a:srgbClr val="B1C2C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750FB33-052C-559E-17BE-EA1AA09F9870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 w="12700">
            <a:solidFill>
              <a:srgbClr val="2A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AA88B7F8-3B4F-3FA6-45AD-7B28A2114744}"/>
              </a:ext>
            </a:extLst>
          </p:cNvPr>
          <p:cNvSpPr txBox="1"/>
          <p:nvPr/>
        </p:nvSpPr>
        <p:spPr>
          <a:xfrm>
            <a:off x="685800" y="6553200"/>
            <a:ext cx="8890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萤目守望｜交互方法初步调研｜技术与交互讨论稿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17DC22A-A404-9CE6-604B-F4624AF04DEF}"/>
              </a:ext>
            </a:extLst>
          </p:cNvPr>
          <p:cNvSpPr/>
          <p:nvPr/>
        </p:nvSpPr>
        <p:spPr>
          <a:xfrm>
            <a:off x="685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BB7E73-3982-E839-127E-1AC0A60048DA}"/>
              </a:ext>
            </a:extLst>
          </p:cNvPr>
          <p:cNvSpPr/>
          <p:nvPr/>
        </p:nvSpPr>
        <p:spPr>
          <a:xfrm>
            <a:off x="685800" y="1701800"/>
            <a:ext cx="76200" cy="1955800"/>
          </a:xfrm>
          <a:prstGeom prst="rect">
            <a:avLst/>
          </a:prstGeom>
          <a:solidFill>
            <a:srgbClr val="1CB2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1DE94E-49DE-7859-C2AB-C41E26770E88}"/>
              </a:ext>
            </a:extLst>
          </p:cNvPr>
          <p:cNvSpPr txBox="1"/>
          <p:nvPr/>
        </p:nvSpPr>
        <p:spPr>
          <a:xfrm>
            <a:off x="939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非授权访客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2BC612-121F-9B82-D5B5-F7022F0944C4}"/>
              </a:ext>
            </a:extLst>
          </p:cNvPr>
          <p:cNvSpPr txBox="1"/>
          <p:nvPr/>
        </p:nvSpPr>
        <p:spPr>
          <a:xfrm>
            <a:off x="939800" y="2438400"/>
            <a:ext cx="29718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人员身份不在授权范围；单独出现不直接报警。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5B997AD-5A5F-E974-B7B7-1587140D6CE3}"/>
              </a:ext>
            </a:extLst>
          </p:cNvPr>
          <p:cNvSpPr/>
          <p:nvPr/>
        </p:nvSpPr>
        <p:spPr>
          <a:xfrm>
            <a:off x="4368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D5CBF8-CC67-2FCE-F690-6CCA85E551C5}"/>
              </a:ext>
            </a:extLst>
          </p:cNvPr>
          <p:cNvSpPr/>
          <p:nvPr/>
        </p:nvSpPr>
        <p:spPr>
          <a:xfrm>
            <a:off x="4368800" y="1701800"/>
            <a:ext cx="76200" cy="1955800"/>
          </a:xfrm>
          <a:prstGeom prst="rect">
            <a:avLst/>
          </a:prstGeom>
          <a:solidFill>
            <a:srgbClr val="1CB2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481CE3-5A82-8550-B61A-3778D3728187}"/>
              </a:ext>
            </a:extLst>
          </p:cNvPr>
          <p:cNvSpPr txBox="1"/>
          <p:nvPr/>
        </p:nvSpPr>
        <p:spPr>
          <a:xfrm>
            <a:off x="4622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异常停留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BF70B0-A600-9A19-693D-A061A473D874}"/>
              </a:ext>
            </a:extLst>
          </p:cNvPr>
          <p:cNvSpPr txBox="1"/>
          <p:nvPr/>
        </p:nvSpPr>
        <p:spPr>
          <a:xfrm>
            <a:off x="4622800" y="2438400"/>
            <a:ext cx="29718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停留时间明显偏离正常来访模式。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2994B49-E84B-F5B6-CF75-8E23291A225C}"/>
              </a:ext>
            </a:extLst>
          </p:cNvPr>
          <p:cNvSpPr/>
          <p:nvPr/>
        </p:nvSpPr>
        <p:spPr>
          <a:xfrm>
            <a:off x="8051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349AF36-EDD6-3D47-CE16-414602FC779F}"/>
              </a:ext>
            </a:extLst>
          </p:cNvPr>
          <p:cNvSpPr/>
          <p:nvPr/>
        </p:nvSpPr>
        <p:spPr>
          <a:xfrm>
            <a:off x="8051800" y="1701800"/>
            <a:ext cx="76200" cy="1955800"/>
          </a:xfrm>
          <a:prstGeom prst="rect">
            <a:avLst/>
          </a:prstGeom>
          <a:solidFill>
            <a:srgbClr val="F6A3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1C479C-A517-A9CD-3B20-0528D6AA5295}"/>
              </a:ext>
            </a:extLst>
          </p:cNvPr>
          <p:cNvSpPr txBox="1"/>
          <p:nvPr/>
        </p:nvSpPr>
        <p:spPr>
          <a:xfrm>
            <a:off x="8305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高风险关键词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DE59F41-59BA-966E-4E19-E9DC3B2032B8}"/>
              </a:ext>
            </a:extLst>
          </p:cNvPr>
          <p:cNvSpPr txBox="1"/>
          <p:nvPr/>
        </p:nvSpPr>
        <p:spPr>
          <a:xfrm>
            <a:off x="8305800" y="2438400"/>
            <a:ext cx="29718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经授权本地转写；单个关键词不触发橙色。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1F32D65-B125-2BB3-830C-3E621EFD59B0}"/>
              </a:ext>
            </a:extLst>
          </p:cNvPr>
          <p:cNvSpPr/>
          <p:nvPr/>
        </p:nvSpPr>
        <p:spPr>
          <a:xfrm>
            <a:off x="685800" y="38862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9DA5014-4121-9507-6357-D60C291A64A7}"/>
              </a:ext>
            </a:extLst>
          </p:cNvPr>
          <p:cNvSpPr/>
          <p:nvPr/>
        </p:nvSpPr>
        <p:spPr>
          <a:xfrm>
            <a:off x="685800" y="3886200"/>
            <a:ext cx="76200" cy="1955800"/>
          </a:xfrm>
          <a:prstGeom prst="rect">
            <a:avLst/>
          </a:prstGeom>
          <a:solidFill>
            <a:srgbClr val="F6A3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6C6F0FB-42DA-52CB-44BE-B7EDB25D1260}"/>
              </a:ext>
            </a:extLst>
          </p:cNvPr>
          <p:cNvSpPr txBox="1"/>
          <p:nvPr/>
        </p:nvSpPr>
        <p:spPr>
          <a:xfrm>
            <a:off x="939800" y="40894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行为辅助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7478E66-873E-95A4-4419-04F4A0DA21FA}"/>
              </a:ext>
            </a:extLst>
          </p:cNvPr>
          <p:cNvSpPr txBox="1"/>
          <p:nvPr/>
        </p:nvSpPr>
        <p:spPr>
          <a:xfrm>
            <a:off x="939800" y="46228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异常踱步等只作为辅助</a:t>
            </a:r>
            <a:r>
              <a:rPr lang="en-US" altLang="zh-CN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Evidence</a:t>
            </a:r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，不独立判断诈骗。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52B263D-D344-5635-2ED5-BFE0C83160F0}"/>
              </a:ext>
            </a:extLst>
          </p:cNvPr>
          <p:cNvSpPr/>
          <p:nvPr/>
        </p:nvSpPr>
        <p:spPr>
          <a:xfrm>
            <a:off x="4368800" y="38862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E6E91D-399C-F605-8F04-D0D0059D3E1E}"/>
              </a:ext>
            </a:extLst>
          </p:cNvPr>
          <p:cNvSpPr/>
          <p:nvPr/>
        </p:nvSpPr>
        <p:spPr>
          <a:xfrm>
            <a:off x="4368800" y="3886200"/>
            <a:ext cx="76200" cy="1955800"/>
          </a:xfrm>
          <a:prstGeom prst="rect">
            <a:avLst/>
          </a:prstGeom>
          <a:solidFill>
            <a:srgbClr val="4FC0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6A1D956-2C86-0731-A6A9-175A8DD6419C}"/>
              </a:ext>
            </a:extLst>
          </p:cNvPr>
          <p:cNvSpPr txBox="1"/>
          <p:nvPr/>
        </p:nvSpPr>
        <p:spPr>
          <a:xfrm>
            <a:off x="4622800" y="40894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家属核验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4FA7AA7-8702-E938-05CE-B4A554EF68F4}"/>
              </a:ext>
            </a:extLst>
          </p:cNvPr>
          <p:cNvSpPr txBox="1"/>
          <p:nvPr/>
        </p:nvSpPr>
        <p:spPr>
          <a:xfrm>
            <a:off x="4622800" y="4622800"/>
            <a:ext cx="29718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证据卡、一键联系、身份确认或误报反馈。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DFC6318-6F75-E705-5B88-DDB519390EF5}"/>
              </a:ext>
            </a:extLst>
          </p:cNvPr>
          <p:cNvSpPr/>
          <p:nvPr/>
        </p:nvSpPr>
        <p:spPr>
          <a:xfrm>
            <a:off x="8051800" y="38862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A06E1E5-81C9-F641-D57A-3B85F8A8E391}"/>
              </a:ext>
            </a:extLst>
          </p:cNvPr>
          <p:cNvSpPr/>
          <p:nvPr/>
        </p:nvSpPr>
        <p:spPr>
          <a:xfrm>
            <a:off x="8051800" y="3886200"/>
            <a:ext cx="76200" cy="1955800"/>
          </a:xfrm>
          <a:prstGeom prst="rect">
            <a:avLst/>
          </a:prstGeom>
          <a:solidFill>
            <a:srgbClr val="E25B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B3F207F-1AD9-CDF0-0A9E-5983553E4F27}"/>
              </a:ext>
            </a:extLst>
          </p:cNvPr>
          <p:cNvSpPr txBox="1"/>
          <p:nvPr/>
        </p:nvSpPr>
        <p:spPr>
          <a:xfrm>
            <a:off x="8305800" y="40894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能力边界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FB82B36-6947-D3A6-3CAA-0434D6E17A3C}"/>
              </a:ext>
            </a:extLst>
          </p:cNvPr>
          <p:cNvSpPr txBox="1"/>
          <p:nvPr/>
        </p:nvSpPr>
        <p:spPr>
          <a:xfrm>
            <a:off x="8305800" y="46228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不读取陌生号码、不判断真实转账、不自动阻断支付。</a:t>
            </a:r>
          </a:p>
        </p:txBody>
      </p:sp>
    </p:spTree>
    <p:extLst>
      <p:ext uri="{BB962C8B-B14F-4D97-AF65-F5344CB8AC3E}">
        <p14:creationId xmlns:p14="http://schemas.microsoft.com/office/powerpoint/2010/main" val="1462090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B59896E-86A9-BB86-4A8F-D509FEA28D47}"/>
              </a:ext>
            </a:extLst>
          </p:cNvPr>
          <p:cNvSpPr txBox="1"/>
          <p:nvPr/>
        </p:nvSpPr>
        <p:spPr>
          <a:xfrm>
            <a:off x="685800" y="431800"/>
            <a:ext cx="1003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ACT 4</a:t>
            </a:r>
            <a:r>
              <a:rPr lang="zh-CN" altLang="en-US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GOLDEN 30 SECONDS</a:t>
            </a:r>
            <a:endParaRPr lang="zh-CN" altLang="en-US" sz="1000" b="1">
              <a:solidFill>
                <a:srgbClr val="1CB2A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29A606-6254-921F-DA8A-D639487D0FC3}"/>
              </a:ext>
            </a:extLst>
          </p:cNvPr>
          <p:cNvSpPr txBox="1"/>
          <p:nvPr/>
        </p:nvSpPr>
        <p:spPr>
          <a:xfrm>
            <a:off x="685800" y="762000"/>
            <a:ext cx="1041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第四幕：一次跌倒没有发生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6BEB86-B6AE-6F47-0456-56835C94430F}"/>
              </a:ext>
            </a:extLst>
          </p:cNvPr>
          <p:cNvSpPr txBox="1"/>
          <p:nvPr/>
        </p:nvSpPr>
        <p:spPr>
          <a:xfrm>
            <a:off x="11201400" y="482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</a:t>
            </a:r>
            <a:endParaRPr lang="zh-CN" altLang="en-US" sz="900">
              <a:solidFill>
                <a:srgbClr val="B1C2C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38C8AC5-CCEC-5A97-0216-F7EAD2BDA511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 w="12700">
            <a:solidFill>
              <a:srgbClr val="2A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1DEB2A5F-329C-66ED-164B-E0FA00F9C6A6}"/>
              </a:ext>
            </a:extLst>
          </p:cNvPr>
          <p:cNvSpPr txBox="1"/>
          <p:nvPr/>
        </p:nvSpPr>
        <p:spPr>
          <a:xfrm>
            <a:off x="685800" y="6553200"/>
            <a:ext cx="8890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萤目守望｜交互方法初步调研｜技术与交互讨论稿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805154A-6D1F-CCC4-3C54-3FC647357CF6}"/>
              </a:ext>
            </a:extLst>
          </p:cNvPr>
          <p:cNvSpPr/>
          <p:nvPr/>
        </p:nvSpPr>
        <p:spPr>
          <a:xfrm>
            <a:off x="685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99ACDC-2287-36B6-37BC-03272DB00494}"/>
              </a:ext>
            </a:extLst>
          </p:cNvPr>
          <p:cNvSpPr/>
          <p:nvPr/>
        </p:nvSpPr>
        <p:spPr>
          <a:xfrm>
            <a:off x="685800" y="1701800"/>
            <a:ext cx="76200" cy="1955800"/>
          </a:xfrm>
          <a:prstGeom prst="rect">
            <a:avLst/>
          </a:prstGeom>
          <a:solidFill>
            <a:srgbClr val="F6A3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F522E1-AAB8-216D-43DA-95F84822EDB8}"/>
              </a:ext>
            </a:extLst>
          </p:cNvPr>
          <p:cNvSpPr txBox="1"/>
          <p:nvPr/>
        </p:nvSpPr>
        <p:spPr>
          <a:xfrm>
            <a:off x="939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0—1</a:t>
            </a:r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秒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8C0F2BA-DD23-E327-8581-81BF2B8ADA0E}"/>
              </a:ext>
            </a:extLst>
          </p:cNvPr>
          <p:cNvSpPr txBox="1"/>
          <p:nvPr/>
        </p:nvSpPr>
        <p:spPr>
          <a:xfrm>
            <a:off x="939800" y="2438400"/>
            <a:ext cx="29718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快速起身；检测躯干摇晃；形成短时</a:t>
            </a:r>
            <a:r>
              <a:rPr lang="en-US" altLang="zh-CN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Evidence</a:t>
            </a:r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64A0E6F-C213-1139-AB3A-31A5D0DC8492}"/>
              </a:ext>
            </a:extLst>
          </p:cNvPr>
          <p:cNvSpPr/>
          <p:nvPr/>
        </p:nvSpPr>
        <p:spPr>
          <a:xfrm>
            <a:off x="4368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5482F24-B886-3101-D0BF-94D18C9854AF}"/>
              </a:ext>
            </a:extLst>
          </p:cNvPr>
          <p:cNvSpPr/>
          <p:nvPr/>
        </p:nvSpPr>
        <p:spPr>
          <a:xfrm>
            <a:off x="4368800" y="1701800"/>
            <a:ext cx="76200" cy="1955800"/>
          </a:xfrm>
          <a:prstGeom prst="rect">
            <a:avLst/>
          </a:prstGeom>
          <a:solidFill>
            <a:srgbClr val="E25B5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A1B72B3-E67E-66A1-DA3C-324D84CB1F73}"/>
              </a:ext>
            </a:extLst>
          </p:cNvPr>
          <p:cNvSpPr txBox="1"/>
          <p:nvPr/>
        </p:nvSpPr>
        <p:spPr>
          <a:xfrm>
            <a:off x="4622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2—3</a:t>
            </a:r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秒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5C1A69E-C852-ACA5-42C5-64150EEEFEB4}"/>
              </a:ext>
            </a:extLst>
          </p:cNvPr>
          <p:cNvSpPr txBox="1"/>
          <p:nvPr/>
        </p:nvSpPr>
        <p:spPr>
          <a:xfrm>
            <a:off x="4622800" y="24384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查询个人基线；融合低照度和区域；生成</a:t>
            </a:r>
            <a:r>
              <a:rPr lang="en-US" altLang="zh-CN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ORANGE</a:t>
            </a:r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673A28E-D0D5-2E2E-5116-562E7C6903CF}"/>
              </a:ext>
            </a:extLst>
          </p:cNvPr>
          <p:cNvSpPr/>
          <p:nvPr/>
        </p:nvSpPr>
        <p:spPr>
          <a:xfrm>
            <a:off x="8051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51F9DF9-6B2A-E26D-9049-0C59F841B1DA}"/>
              </a:ext>
            </a:extLst>
          </p:cNvPr>
          <p:cNvSpPr/>
          <p:nvPr/>
        </p:nvSpPr>
        <p:spPr>
          <a:xfrm>
            <a:off x="8051800" y="1701800"/>
            <a:ext cx="76200" cy="1955800"/>
          </a:xfrm>
          <a:prstGeom prst="rect">
            <a:avLst/>
          </a:prstGeom>
          <a:solidFill>
            <a:srgbClr val="F6A3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B931F41-20EE-A7C1-B43F-8F1D1223E0FB}"/>
              </a:ext>
            </a:extLst>
          </p:cNvPr>
          <p:cNvSpPr txBox="1"/>
          <p:nvPr/>
        </p:nvSpPr>
        <p:spPr>
          <a:xfrm>
            <a:off x="8305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秒后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9C0BAE1-A53B-5908-2E02-1682FEBE112B}"/>
              </a:ext>
            </a:extLst>
          </p:cNvPr>
          <p:cNvSpPr txBox="1"/>
          <p:nvPr/>
        </p:nvSpPr>
        <p:spPr>
          <a:xfrm>
            <a:off x="8305800" y="2438400"/>
            <a:ext cx="29718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调用家属语音或消息；记录真实工具执行结果。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8F7F4F7-D6D4-5679-C0AC-98936712528E}"/>
              </a:ext>
            </a:extLst>
          </p:cNvPr>
          <p:cNvSpPr/>
          <p:nvPr/>
        </p:nvSpPr>
        <p:spPr>
          <a:xfrm>
            <a:off x="685800" y="38862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E0F0E3-4F63-2AE3-C79B-3A7B72CF0B58}"/>
              </a:ext>
            </a:extLst>
          </p:cNvPr>
          <p:cNvSpPr/>
          <p:nvPr/>
        </p:nvSpPr>
        <p:spPr>
          <a:xfrm>
            <a:off x="685800" y="3886200"/>
            <a:ext cx="76200" cy="1955800"/>
          </a:xfrm>
          <a:prstGeom prst="rect">
            <a:avLst/>
          </a:prstGeom>
          <a:solidFill>
            <a:srgbClr val="4FC0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C3ED47-C818-5CC6-07F0-F71BA5FF2CBC}"/>
              </a:ext>
            </a:extLst>
          </p:cNvPr>
          <p:cNvSpPr txBox="1"/>
          <p:nvPr/>
        </p:nvSpPr>
        <p:spPr>
          <a:xfrm>
            <a:off x="939800" y="40894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秒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1EC843E-F496-B8A2-3652-058FD85C4801}"/>
              </a:ext>
            </a:extLst>
          </p:cNvPr>
          <p:cNvSpPr txBox="1"/>
          <p:nvPr/>
        </p:nvSpPr>
        <p:spPr>
          <a:xfrm>
            <a:off x="939800" y="4622800"/>
            <a:ext cx="29718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检测重新坐稳或姿态恢复；进入干预后观察。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FA9F58C-AB4D-8A5F-565E-3686DBAE40E3}"/>
              </a:ext>
            </a:extLst>
          </p:cNvPr>
          <p:cNvSpPr/>
          <p:nvPr/>
        </p:nvSpPr>
        <p:spPr>
          <a:xfrm>
            <a:off x="4368800" y="38862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DBB9650-7A5D-775B-BFC6-1DDEF1B45583}"/>
              </a:ext>
            </a:extLst>
          </p:cNvPr>
          <p:cNvSpPr/>
          <p:nvPr/>
        </p:nvSpPr>
        <p:spPr>
          <a:xfrm>
            <a:off x="4368800" y="3886200"/>
            <a:ext cx="76200" cy="1955800"/>
          </a:xfrm>
          <a:prstGeom prst="rect">
            <a:avLst/>
          </a:prstGeom>
          <a:solidFill>
            <a:srgbClr val="4FC0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BF02E5-DC3E-3DE1-F148-C66E800B024A}"/>
              </a:ext>
            </a:extLst>
          </p:cNvPr>
          <p:cNvSpPr txBox="1"/>
          <p:nvPr/>
        </p:nvSpPr>
        <p:spPr>
          <a:xfrm>
            <a:off x="4622800" y="40894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60</a:t>
            </a:r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秒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F46A5E3-DD10-0008-D5A5-76B1153C8609}"/>
              </a:ext>
            </a:extLst>
          </p:cNvPr>
          <p:cNvSpPr txBox="1"/>
          <p:nvPr/>
        </p:nvSpPr>
        <p:spPr>
          <a:xfrm>
            <a:off x="4622800" y="46228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观察期无新风险；写入</a:t>
            </a:r>
            <a:r>
              <a:rPr lang="en-US" altLang="zh-CN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InterventionResult</a:t>
            </a:r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</a:t>
            </a:r>
            <a:r>
              <a:rPr lang="en-US" altLang="zh-CN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RESOLVED</a:t>
            </a:r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87F4A71-1BA9-3960-6564-0C41443560AD}"/>
              </a:ext>
            </a:extLst>
          </p:cNvPr>
          <p:cNvSpPr/>
          <p:nvPr/>
        </p:nvSpPr>
        <p:spPr>
          <a:xfrm>
            <a:off x="8051800" y="38862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8E65349-A7B9-ED6B-BA14-375FF0D387BE}"/>
              </a:ext>
            </a:extLst>
          </p:cNvPr>
          <p:cNvSpPr/>
          <p:nvPr/>
        </p:nvSpPr>
        <p:spPr>
          <a:xfrm>
            <a:off x="8051800" y="3886200"/>
            <a:ext cx="76200" cy="1955800"/>
          </a:xfrm>
          <a:prstGeom prst="rect">
            <a:avLst/>
          </a:prstGeom>
          <a:solidFill>
            <a:srgbClr val="1CB2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130200F-4151-619D-2D7A-CD5E72BEA599}"/>
              </a:ext>
            </a:extLst>
          </p:cNvPr>
          <p:cNvSpPr txBox="1"/>
          <p:nvPr/>
        </p:nvSpPr>
        <p:spPr>
          <a:xfrm>
            <a:off x="8305800" y="40894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当前状态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B238DFB-AA77-E3B9-6371-2EA709698BF6}"/>
              </a:ext>
            </a:extLst>
          </p:cNvPr>
          <p:cNvSpPr txBox="1"/>
          <p:nvPr/>
        </p:nvSpPr>
        <p:spPr>
          <a:xfrm>
            <a:off x="8305800" y="4622800"/>
            <a:ext cx="29718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以上时间是研发目标，不是当前实测结果。</a:t>
            </a:r>
          </a:p>
        </p:txBody>
      </p:sp>
    </p:spTree>
    <p:extLst>
      <p:ext uri="{BB962C8B-B14F-4D97-AF65-F5344CB8AC3E}">
        <p14:creationId xmlns:p14="http://schemas.microsoft.com/office/powerpoint/2010/main" val="2470918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25F188-81FC-6DF7-4985-DDAEA328A1B8}"/>
              </a:ext>
            </a:extLst>
          </p:cNvPr>
          <p:cNvSpPr txBox="1"/>
          <p:nvPr/>
        </p:nvSpPr>
        <p:spPr>
          <a:xfrm>
            <a:off x="685800" y="431800"/>
            <a:ext cx="1003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ORCHESTRATION</a:t>
            </a:r>
            <a:endParaRPr lang="zh-CN" altLang="en-US" sz="1000" b="1">
              <a:solidFill>
                <a:srgbClr val="1CB2A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0F3734-0811-5B21-CD24-F7680543AB1B}"/>
              </a:ext>
            </a:extLst>
          </p:cNvPr>
          <p:cNvSpPr txBox="1"/>
          <p:nvPr/>
        </p:nvSpPr>
        <p:spPr>
          <a:xfrm>
            <a:off x="685800" y="762000"/>
            <a:ext cx="1041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智能体不是聊天机器人，而是安全闭环编排器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16F7951-F3A6-4EB0-C9CE-2A49B89E1F3D}"/>
              </a:ext>
            </a:extLst>
          </p:cNvPr>
          <p:cNvSpPr txBox="1"/>
          <p:nvPr/>
        </p:nvSpPr>
        <p:spPr>
          <a:xfrm>
            <a:off x="11201400" y="482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900">
              <a:solidFill>
                <a:srgbClr val="B1C2C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F655C8B-CBCD-0724-776D-CEB9CB0C141A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 w="12700">
            <a:solidFill>
              <a:srgbClr val="2A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3594837-FC78-56BC-5ABB-5A1A469C95F9}"/>
              </a:ext>
            </a:extLst>
          </p:cNvPr>
          <p:cNvSpPr txBox="1"/>
          <p:nvPr/>
        </p:nvSpPr>
        <p:spPr>
          <a:xfrm>
            <a:off x="685800" y="6553200"/>
            <a:ext cx="8890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萤目守望｜交互方法初步调研｜技术与交互讨论稿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10503C3-7AF0-2CFC-2058-578C1412CC8E}"/>
              </a:ext>
            </a:extLst>
          </p:cNvPr>
          <p:cNvSpPr/>
          <p:nvPr/>
        </p:nvSpPr>
        <p:spPr>
          <a:xfrm>
            <a:off x="685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44E2FF-F640-11F9-C113-42E50B07A364}"/>
              </a:ext>
            </a:extLst>
          </p:cNvPr>
          <p:cNvSpPr/>
          <p:nvPr/>
        </p:nvSpPr>
        <p:spPr>
          <a:xfrm>
            <a:off x="685800" y="1701800"/>
            <a:ext cx="76200" cy="1955800"/>
          </a:xfrm>
          <a:prstGeom prst="rect">
            <a:avLst/>
          </a:prstGeom>
          <a:solidFill>
            <a:srgbClr val="1CB2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493E8D-7C4A-F6E2-5DE2-E35D7CE6A55B}"/>
              </a:ext>
            </a:extLst>
          </p:cNvPr>
          <p:cNvSpPr txBox="1"/>
          <p:nvPr/>
        </p:nvSpPr>
        <p:spPr>
          <a:xfrm>
            <a:off x="939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Evidence</a:t>
            </a:r>
            <a:endParaRPr lang="zh-CN" altLang="en-US" sz="1600" b="1">
              <a:solidFill>
                <a:srgbClr val="F8FBF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013622-739F-1176-3206-1ACD5FBE28F4}"/>
              </a:ext>
            </a:extLst>
          </p:cNvPr>
          <p:cNvSpPr txBox="1"/>
          <p:nvPr/>
        </p:nvSpPr>
        <p:spPr>
          <a:xfrm>
            <a:off x="939800" y="2438400"/>
            <a:ext cx="29718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算法和人工反馈统一转换为结构化证据。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C2C7928-45DE-0E86-8E69-BEBCB59893B8}"/>
              </a:ext>
            </a:extLst>
          </p:cNvPr>
          <p:cNvSpPr/>
          <p:nvPr/>
        </p:nvSpPr>
        <p:spPr>
          <a:xfrm>
            <a:off x="4368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147863-8F69-1B3E-9281-33A5DB5CD816}"/>
              </a:ext>
            </a:extLst>
          </p:cNvPr>
          <p:cNvSpPr/>
          <p:nvPr/>
        </p:nvSpPr>
        <p:spPr>
          <a:xfrm>
            <a:off x="4368800" y="1701800"/>
            <a:ext cx="76200" cy="1955800"/>
          </a:xfrm>
          <a:prstGeom prst="rect">
            <a:avLst/>
          </a:prstGeom>
          <a:solidFill>
            <a:srgbClr val="1CB2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83E457E-AB33-F94E-8571-EC3D8CD7D4B3}"/>
              </a:ext>
            </a:extLst>
          </p:cNvPr>
          <p:cNvSpPr txBox="1"/>
          <p:nvPr/>
        </p:nvSpPr>
        <p:spPr>
          <a:xfrm>
            <a:off x="4622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个人记忆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D09F937-A8F4-8B7E-C964-16FF398BF1AF}"/>
              </a:ext>
            </a:extLst>
          </p:cNvPr>
          <p:cNvSpPr txBox="1"/>
          <p:nvPr/>
        </p:nvSpPr>
        <p:spPr>
          <a:xfrm>
            <a:off x="4622800" y="2438400"/>
            <a:ext cx="29718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查询短时、中时和长时个人状态。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9008D34-698B-58C0-4150-5B27D43152F4}"/>
              </a:ext>
            </a:extLst>
          </p:cNvPr>
          <p:cNvSpPr/>
          <p:nvPr/>
        </p:nvSpPr>
        <p:spPr>
          <a:xfrm>
            <a:off x="8051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5B7138-1655-4FC9-2E54-CAF7D77378EF}"/>
              </a:ext>
            </a:extLst>
          </p:cNvPr>
          <p:cNvSpPr/>
          <p:nvPr/>
        </p:nvSpPr>
        <p:spPr>
          <a:xfrm>
            <a:off x="8051800" y="1701800"/>
            <a:ext cx="76200" cy="1955800"/>
          </a:xfrm>
          <a:prstGeom prst="rect">
            <a:avLst/>
          </a:prstGeom>
          <a:solidFill>
            <a:srgbClr val="F6A3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B04E46F-2045-6AEF-624F-AF2D7CF9396B}"/>
              </a:ext>
            </a:extLst>
          </p:cNvPr>
          <p:cNvSpPr txBox="1"/>
          <p:nvPr/>
        </p:nvSpPr>
        <p:spPr>
          <a:xfrm>
            <a:off x="8305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规则状态机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112CE1-9EFF-8906-94E9-68A0689B00A6}"/>
              </a:ext>
            </a:extLst>
          </p:cNvPr>
          <p:cNvSpPr txBox="1"/>
          <p:nvPr/>
        </p:nvSpPr>
        <p:spPr>
          <a:xfrm>
            <a:off x="8305800" y="24384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唯一有权输出</a:t>
            </a:r>
            <a:r>
              <a:rPr lang="en-US" altLang="zh-CN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GREEN</a:t>
            </a:r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YELLOW</a:t>
            </a:r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ORANGE</a:t>
            </a:r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</a:t>
            </a:r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DFF5134-F87D-74AD-7F41-425C3E48A38C}"/>
              </a:ext>
            </a:extLst>
          </p:cNvPr>
          <p:cNvSpPr/>
          <p:nvPr/>
        </p:nvSpPr>
        <p:spPr>
          <a:xfrm>
            <a:off x="685800" y="38862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03F847E-A918-432C-6DFC-4106A253829A}"/>
              </a:ext>
            </a:extLst>
          </p:cNvPr>
          <p:cNvSpPr/>
          <p:nvPr/>
        </p:nvSpPr>
        <p:spPr>
          <a:xfrm>
            <a:off x="685800" y="3886200"/>
            <a:ext cx="76200" cy="1955800"/>
          </a:xfrm>
          <a:prstGeom prst="rect">
            <a:avLst/>
          </a:prstGeom>
          <a:solidFill>
            <a:srgbClr val="F6A3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E4E3F2A-79ED-BB37-7ABF-D529DAD5FD18}"/>
              </a:ext>
            </a:extLst>
          </p:cNvPr>
          <p:cNvSpPr txBox="1"/>
          <p:nvPr/>
        </p:nvSpPr>
        <p:spPr>
          <a:xfrm>
            <a:off x="939800" y="40894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RiskEvent</a:t>
            </a:r>
            <a:endParaRPr lang="zh-CN" altLang="en-US" sz="1600" b="1">
              <a:solidFill>
                <a:srgbClr val="F8FBF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6017B20-23B4-4CCD-95DC-6A875AD71EF9}"/>
              </a:ext>
            </a:extLst>
          </p:cNvPr>
          <p:cNvSpPr txBox="1"/>
          <p:nvPr/>
        </p:nvSpPr>
        <p:spPr>
          <a:xfrm>
            <a:off x="939800" y="4622800"/>
            <a:ext cx="29718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保存等级、证据链、建议动作和规则版本。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ADD921B-8168-C01E-5B4B-05AE60CEB123}"/>
              </a:ext>
            </a:extLst>
          </p:cNvPr>
          <p:cNvSpPr/>
          <p:nvPr/>
        </p:nvSpPr>
        <p:spPr>
          <a:xfrm>
            <a:off x="4368800" y="38862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40D8AD1-97E7-F56D-4516-C17004936FDB}"/>
              </a:ext>
            </a:extLst>
          </p:cNvPr>
          <p:cNvSpPr/>
          <p:nvPr/>
        </p:nvSpPr>
        <p:spPr>
          <a:xfrm>
            <a:off x="4368800" y="3886200"/>
            <a:ext cx="76200" cy="1955800"/>
          </a:xfrm>
          <a:prstGeom prst="rect">
            <a:avLst/>
          </a:prstGeom>
          <a:solidFill>
            <a:srgbClr val="4FC0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56A101-6CFA-874C-4759-2CAB3D9FCF2C}"/>
              </a:ext>
            </a:extLst>
          </p:cNvPr>
          <p:cNvSpPr txBox="1"/>
          <p:nvPr/>
        </p:nvSpPr>
        <p:spPr>
          <a:xfrm>
            <a:off x="4622800" y="40894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工具与结果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95293BB-D4F8-9B8F-B3B8-6D610AF48050}"/>
              </a:ext>
            </a:extLst>
          </p:cNvPr>
          <p:cNvSpPr txBox="1"/>
          <p:nvPr/>
        </p:nvSpPr>
        <p:spPr>
          <a:xfrm>
            <a:off x="4622800" y="4622800"/>
            <a:ext cx="29718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调用萤石；保存送达、响应和家属反馈。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B202837-0CCA-B982-3981-77BB47FFCE70}"/>
              </a:ext>
            </a:extLst>
          </p:cNvPr>
          <p:cNvSpPr/>
          <p:nvPr/>
        </p:nvSpPr>
        <p:spPr>
          <a:xfrm>
            <a:off x="8051800" y="38862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ECAE2FD-5D07-EBF3-0E4D-74B618E9FB4E}"/>
              </a:ext>
            </a:extLst>
          </p:cNvPr>
          <p:cNvSpPr/>
          <p:nvPr/>
        </p:nvSpPr>
        <p:spPr>
          <a:xfrm>
            <a:off x="8051800" y="3886200"/>
            <a:ext cx="76200" cy="1955800"/>
          </a:xfrm>
          <a:prstGeom prst="rect">
            <a:avLst/>
          </a:prstGeom>
          <a:solidFill>
            <a:srgbClr val="4FC0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51BB5B5-254A-9E2A-5F61-3CC23314E863}"/>
              </a:ext>
            </a:extLst>
          </p:cNvPr>
          <p:cNvSpPr txBox="1"/>
          <p:nvPr/>
        </p:nvSpPr>
        <p:spPr>
          <a:xfrm>
            <a:off x="8305800" y="40894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风险回落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61A1EDE-690C-2714-8E36-B5A4DBDB99C8}"/>
              </a:ext>
            </a:extLst>
          </p:cNvPr>
          <p:cNvSpPr txBox="1"/>
          <p:nvPr/>
        </p:nvSpPr>
        <p:spPr>
          <a:xfrm>
            <a:off x="8305800" y="4622800"/>
            <a:ext cx="29718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姿态、行为或核验结果满足退出条件才结束。</a:t>
            </a:r>
          </a:p>
        </p:txBody>
      </p:sp>
    </p:spTree>
    <p:extLst>
      <p:ext uri="{BB962C8B-B14F-4D97-AF65-F5344CB8AC3E}">
        <p14:creationId xmlns:p14="http://schemas.microsoft.com/office/powerpoint/2010/main" val="9501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83EE0EF-E4E7-A708-586C-20F4F4988398}"/>
              </a:ext>
            </a:extLst>
          </p:cNvPr>
          <p:cNvSpPr txBox="1"/>
          <p:nvPr/>
        </p:nvSpPr>
        <p:spPr>
          <a:xfrm>
            <a:off x="685800" y="431800"/>
            <a:ext cx="1003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LOW-FIDELITY WIREFRAMES</a:t>
            </a:r>
            <a:endParaRPr lang="zh-CN" altLang="en-US" sz="1000" b="1">
              <a:solidFill>
                <a:srgbClr val="1CB2A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3D1F018-2A57-DB8A-DDD6-C2AA96BF5DEB}"/>
              </a:ext>
            </a:extLst>
          </p:cNvPr>
          <p:cNvSpPr txBox="1"/>
          <p:nvPr/>
        </p:nvSpPr>
        <p:spPr>
          <a:xfrm>
            <a:off x="685800" y="762000"/>
            <a:ext cx="1041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核心页面：一个水位、一个时间轴、一个事件详情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27D88E-9C31-3795-2582-BBAF35F319E6}"/>
              </a:ext>
            </a:extLst>
          </p:cNvPr>
          <p:cNvSpPr txBox="1"/>
          <p:nvPr/>
        </p:nvSpPr>
        <p:spPr>
          <a:xfrm>
            <a:off x="11201400" y="482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900">
              <a:solidFill>
                <a:srgbClr val="B1C2C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93007D8-E745-C9BD-02D4-924A027C7E01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 w="12700">
            <a:solidFill>
              <a:srgbClr val="2A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1695726-0EBA-F190-49C5-396D5855D495}"/>
              </a:ext>
            </a:extLst>
          </p:cNvPr>
          <p:cNvSpPr txBox="1"/>
          <p:nvPr/>
        </p:nvSpPr>
        <p:spPr>
          <a:xfrm>
            <a:off x="685800" y="6553200"/>
            <a:ext cx="8890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萤目守望｜交互方法初步调研｜技术与交互讨论稿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6598AC4-2E94-CF31-DAEC-0DEF77440C1B}"/>
              </a:ext>
            </a:extLst>
          </p:cNvPr>
          <p:cNvSpPr/>
          <p:nvPr/>
        </p:nvSpPr>
        <p:spPr>
          <a:xfrm>
            <a:off x="685800" y="1803400"/>
            <a:ext cx="3454400" cy="34290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FE47CA-8669-F4C1-C07A-E21FCBDACB59}"/>
              </a:ext>
            </a:extLst>
          </p:cNvPr>
          <p:cNvSpPr/>
          <p:nvPr/>
        </p:nvSpPr>
        <p:spPr>
          <a:xfrm>
            <a:off x="685800" y="1803400"/>
            <a:ext cx="76200" cy="3429000"/>
          </a:xfrm>
          <a:prstGeom prst="rect">
            <a:avLst/>
          </a:prstGeom>
          <a:solidFill>
            <a:srgbClr val="1CB2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33FA8FF-FC0D-5134-6C1B-906CA6366B9A}"/>
              </a:ext>
            </a:extLst>
          </p:cNvPr>
          <p:cNvSpPr txBox="1"/>
          <p:nvPr/>
        </p:nvSpPr>
        <p:spPr>
          <a:xfrm>
            <a:off x="939800" y="20066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首页安全水位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A2F52C-7032-173D-E63A-C37AA8EEA52B}"/>
              </a:ext>
            </a:extLst>
          </p:cNvPr>
          <p:cNvSpPr txBox="1"/>
          <p:nvPr/>
        </p:nvSpPr>
        <p:spPr>
          <a:xfrm>
            <a:off x="939800" y="25400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当前等级；今日状态；设备在线；基线建立进度。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0085733-9DEE-1C1D-6917-2B7928B5A37A}"/>
              </a:ext>
            </a:extLst>
          </p:cNvPr>
          <p:cNvSpPr/>
          <p:nvPr/>
        </p:nvSpPr>
        <p:spPr>
          <a:xfrm>
            <a:off x="4368800" y="1803400"/>
            <a:ext cx="3454400" cy="34290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37133A8-B488-2FCA-7CEC-01D3C34AF1CC}"/>
              </a:ext>
            </a:extLst>
          </p:cNvPr>
          <p:cNvSpPr/>
          <p:nvPr/>
        </p:nvSpPr>
        <p:spPr>
          <a:xfrm>
            <a:off x="4368800" y="1803400"/>
            <a:ext cx="76200" cy="3429000"/>
          </a:xfrm>
          <a:prstGeom prst="rect">
            <a:avLst/>
          </a:prstGeom>
          <a:solidFill>
            <a:srgbClr val="F6A3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F34BB56-E68E-FEF4-93D7-D09B0EE9E2F2}"/>
              </a:ext>
            </a:extLst>
          </p:cNvPr>
          <p:cNvSpPr txBox="1"/>
          <p:nvPr/>
        </p:nvSpPr>
        <p:spPr>
          <a:xfrm>
            <a:off x="4622800" y="20066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统一事件时间轴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1D945B1-230E-2668-262A-16630624FBCD}"/>
              </a:ext>
            </a:extLst>
          </p:cNvPr>
          <p:cNvSpPr txBox="1"/>
          <p:nvPr/>
        </p:nvSpPr>
        <p:spPr>
          <a:xfrm>
            <a:off x="4622800" y="25400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跌倒、心理和诈骗用</a:t>
            </a:r>
            <a:r>
              <a:rPr lang="en-US" altLang="zh-CN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Evidence</a:t>
            </a:r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标签区分，不做三个后台。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D2C8E40-C444-9E57-0DEA-ED4D37F57CD4}"/>
              </a:ext>
            </a:extLst>
          </p:cNvPr>
          <p:cNvSpPr/>
          <p:nvPr/>
        </p:nvSpPr>
        <p:spPr>
          <a:xfrm>
            <a:off x="8051800" y="1803400"/>
            <a:ext cx="3454400" cy="34290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59BF36-7E2E-855F-C2CB-2457DFE3B291}"/>
              </a:ext>
            </a:extLst>
          </p:cNvPr>
          <p:cNvSpPr/>
          <p:nvPr/>
        </p:nvSpPr>
        <p:spPr>
          <a:xfrm>
            <a:off x="8051800" y="1803400"/>
            <a:ext cx="76200" cy="3429000"/>
          </a:xfrm>
          <a:prstGeom prst="rect">
            <a:avLst/>
          </a:prstGeom>
          <a:solidFill>
            <a:srgbClr val="4FC0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28BDA99-E71F-63DE-FEE7-1C1AF93FF03D}"/>
              </a:ext>
            </a:extLst>
          </p:cNvPr>
          <p:cNvSpPr txBox="1"/>
          <p:nvPr/>
        </p:nvSpPr>
        <p:spPr>
          <a:xfrm>
            <a:off x="8305800" y="20066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事件详情与回落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ADD1A04-35B6-1A6A-F525-D487222DD350}"/>
              </a:ext>
            </a:extLst>
          </p:cNvPr>
          <p:cNvSpPr txBox="1"/>
          <p:nvPr/>
        </p:nvSpPr>
        <p:spPr>
          <a:xfrm>
            <a:off x="8305800" y="25400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证据链；系统动作；工具状态；观察期；最终结果。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5F0ED7B-BD89-3316-083A-4F7CD4B69FB9}"/>
              </a:ext>
            </a:extLst>
          </p:cNvPr>
          <p:cNvSpPr/>
          <p:nvPr/>
        </p:nvSpPr>
        <p:spPr>
          <a:xfrm>
            <a:off x="685800" y="5461000"/>
            <a:ext cx="10820400" cy="609600"/>
          </a:xfrm>
          <a:prstGeom prst="roundRect">
            <a:avLst/>
          </a:prstGeom>
          <a:solidFill>
            <a:srgbClr val="2A435E"/>
          </a:solidFill>
          <a:ln w="12700">
            <a:solidFill>
              <a:srgbClr val="1CB2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D479DA-A5F4-1069-5763-6DD02B1D65E8}"/>
              </a:ext>
            </a:extLst>
          </p:cNvPr>
          <p:cNvSpPr txBox="1"/>
          <p:nvPr/>
        </p:nvSpPr>
        <p:spPr>
          <a:xfrm>
            <a:off x="939800" y="5638800"/>
            <a:ext cx="1031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待产出：陈硕提交低保真图；武婷统一视觉层级；张薇验收交互闭环。</a:t>
            </a:r>
          </a:p>
        </p:txBody>
      </p:sp>
    </p:spTree>
    <p:extLst>
      <p:ext uri="{BB962C8B-B14F-4D97-AF65-F5344CB8AC3E}">
        <p14:creationId xmlns:p14="http://schemas.microsoft.com/office/powerpoint/2010/main" val="3786951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D774B1D-2AF1-EF9F-7FD5-BB1FFB8BC751}"/>
              </a:ext>
            </a:extLst>
          </p:cNvPr>
          <p:cNvSpPr txBox="1"/>
          <p:nvPr/>
        </p:nvSpPr>
        <p:spPr>
          <a:xfrm>
            <a:off x="685800" y="431800"/>
            <a:ext cx="1003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1CB2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FEASIBILITY &amp; NEXT GATE</a:t>
            </a:r>
            <a:endParaRPr lang="zh-CN" altLang="en-US" sz="1000" b="1">
              <a:solidFill>
                <a:srgbClr val="1CB2A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38577F-2B83-66BE-2534-94CA52FCC306}"/>
              </a:ext>
            </a:extLst>
          </p:cNvPr>
          <p:cNvSpPr txBox="1"/>
          <p:nvPr/>
        </p:nvSpPr>
        <p:spPr>
          <a:xfrm>
            <a:off x="685800" y="762000"/>
            <a:ext cx="1041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当前不是“已经实现”，而是带着明确问题进入</a:t>
            </a:r>
            <a:r>
              <a:rPr lang="en-US" altLang="zh-CN" sz="25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Demo</a:t>
            </a:r>
            <a:r>
              <a:rPr lang="zh-CN" altLang="en-US" sz="25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DA1F45-A0A6-858D-F93C-7A5A0F7208AA}"/>
              </a:ext>
            </a:extLst>
          </p:cNvPr>
          <p:cNvSpPr txBox="1"/>
          <p:nvPr/>
        </p:nvSpPr>
        <p:spPr>
          <a:xfrm>
            <a:off x="11201400" y="482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900">
              <a:solidFill>
                <a:srgbClr val="B1C2C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49AD1BE-347F-2814-A96D-88E58C9DA0B8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 w="12700">
            <a:solidFill>
              <a:srgbClr val="2A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FDCE15C-529F-61EE-6D2E-8C806ED2D975}"/>
              </a:ext>
            </a:extLst>
          </p:cNvPr>
          <p:cNvSpPr txBox="1"/>
          <p:nvPr/>
        </p:nvSpPr>
        <p:spPr>
          <a:xfrm>
            <a:off x="685800" y="6553200"/>
            <a:ext cx="8890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萤目守望｜交互方法初步调研｜技术与交互讨论稿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20FFDB2-9542-B425-1A2B-C24D75C4B4B7}"/>
              </a:ext>
            </a:extLst>
          </p:cNvPr>
          <p:cNvSpPr/>
          <p:nvPr/>
        </p:nvSpPr>
        <p:spPr>
          <a:xfrm>
            <a:off x="685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98B2D8-31A8-3BA9-01BF-9F1C82701C00}"/>
              </a:ext>
            </a:extLst>
          </p:cNvPr>
          <p:cNvSpPr/>
          <p:nvPr/>
        </p:nvSpPr>
        <p:spPr>
          <a:xfrm>
            <a:off x="685800" y="1701800"/>
            <a:ext cx="76200" cy="1955800"/>
          </a:xfrm>
          <a:prstGeom prst="rect">
            <a:avLst/>
          </a:prstGeom>
          <a:solidFill>
            <a:srgbClr val="F6A3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A16111-6146-585B-0A41-43F79396F3D7}"/>
              </a:ext>
            </a:extLst>
          </p:cNvPr>
          <p:cNvSpPr txBox="1"/>
          <p:nvPr/>
        </p:nvSpPr>
        <p:spPr>
          <a:xfrm>
            <a:off x="939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MediaPipe</a:t>
            </a:r>
            <a:endParaRPr lang="zh-CN" altLang="en-US" sz="1600" b="1">
              <a:solidFill>
                <a:srgbClr val="F8FBF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0DD96FC-36AA-51CF-0DE2-FC226896B3EB}"/>
              </a:ext>
            </a:extLst>
          </p:cNvPr>
          <p:cNvSpPr txBox="1"/>
          <p:nvPr/>
        </p:nvSpPr>
        <p:spPr>
          <a:xfrm>
            <a:off x="939800" y="2438400"/>
            <a:ext cx="29718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待验证：起身、摇晃、相对步速、数据质量。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6E0C3BB-9FBB-022D-CA25-9673FA66EF7D}"/>
              </a:ext>
            </a:extLst>
          </p:cNvPr>
          <p:cNvSpPr/>
          <p:nvPr/>
        </p:nvSpPr>
        <p:spPr>
          <a:xfrm>
            <a:off x="4368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FAD5AF-D73D-EB0F-EBAC-F6FD389F4803}"/>
              </a:ext>
            </a:extLst>
          </p:cNvPr>
          <p:cNvSpPr/>
          <p:nvPr/>
        </p:nvSpPr>
        <p:spPr>
          <a:xfrm>
            <a:off x="4368800" y="1701800"/>
            <a:ext cx="76200" cy="1955800"/>
          </a:xfrm>
          <a:prstGeom prst="rect">
            <a:avLst/>
          </a:prstGeom>
          <a:solidFill>
            <a:srgbClr val="F6A3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C6EE60-1280-9D5E-03F0-91532A399939}"/>
              </a:ext>
            </a:extLst>
          </p:cNvPr>
          <p:cNvSpPr txBox="1"/>
          <p:nvPr/>
        </p:nvSpPr>
        <p:spPr>
          <a:xfrm>
            <a:off x="4622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Whisper</a:t>
            </a:r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与行为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8059CD3-3EFE-B3D2-37C5-3A96CBBF301F}"/>
              </a:ext>
            </a:extLst>
          </p:cNvPr>
          <p:cNvSpPr txBox="1"/>
          <p:nvPr/>
        </p:nvSpPr>
        <p:spPr>
          <a:xfrm>
            <a:off x="4622800" y="24384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待验证：本地延迟、访客停留、关键词</a:t>
            </a:r>
            <a:r>
              <a:rPr lang="en-US" altLang="zh-CN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Evidence</a:t>
            </a:r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C4BB7D5-61B9-3E58-4551-3EA45B7BD65C}"/>
              </a:ext>
            </a:extLst>
          </p:cNvPr>
          <p:cNvSpPr/>
          <p:nvPr/>
        </p:nvSpPr>
        <p:spPr>
          <a:xfrm>
            <a:off x="8051800" y="17018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6C07C8-E13D-5EC8-6A36-7F350F666987}"/>
              </a:ext>
            </a:extLst>
          </p:cNvPr>
          <p:cNvSpPr/>
          <p:nvPr/>
        </p:nvSpPr>
        <p:spPr>
          <a:xfrm>
            <a:off x="8051800" y="1701800"/>
            <a:ext cx="76200" cy="1955800"/>
          </a:xfrm>
          <a:prstGeom prst="rect">
            <a:avLst/>
          </a:prstGeom>
          <a:solidFill>
            <a:srgbClr val="F6A3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C4D9C5-84CE-22B0-7F97-DAA3D4659C02}"/>
              </a:ext>
            </a:extLst>
          </p:cNvPr>
          <p:cNvSpPr txBox="1"/>
          <p:nvPr/>
        </p:nvSpPr>
        <p:spPr>
          <a:xfrm>
            <a:off x="8305800" y="19050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萤石能力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F166369-4413-D44D-454A-5B124BE64239}"/>
              </a:ext>
            </a:extLst>
          </p:cNvPr>
          <p:cNvSpPr txBox="1"/>
          <p:nvPr/>
        </p:nvSpPr>
        <p:spPr>
          <a:xfrm>
            <a:off x="8305800" y="2438400"/>
            <a:ext cx="29718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待冒烟：取流、消息、语音或对讲、失败重试。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AE0431C-3A6E-E4E1-233E-CB2B57DFD4C3}"/>
              </a:ext>
            </a:extLst>
          </p:cNvPr>
          <p:cNvSpPr/>
          <p:nvPr/>
        </p:nvSpPr>
        <p:spPr>
          <a:xfrm>
            <a:off x="685800" y="38862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180949F-5FB3-D2E4-D97D-7461B70C22D5}"/>
              </a:ext>
            </a:extLst>
          </p:cNvPr>
          <p:cNvSpPr/>
          <p:nvPr/>
        </p:nvSpPr>
        <p:spPr>
          <a:xfrm>
            <a:off x="685800" y="3886200"/>
            <a:ext cx="76200" cy="1955800"/>
          </a:xfrm>
          <a:prstGeom prst="rect">
            <a:avLst/>
          </a:prstGeom>
          <a:solidFill>
            <a:srgbClr val="1CB2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32D5A3-204D-7AB5-DD68-F8B0D25FDADA}"/>
              </a:ext>
            </a:extLst>
          </p:cNvPr>
          <p:cNvSpPr txBox="1"/>
          <p:nvPr/>
        </p:nvSpPr>
        <p:spPr>
          <a:xfrm>
            <a:off x="939800" y="40894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统一接口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D85C14B-2D75-D301-4984-53A0C77757A0}"/>
              </a:ext>
            </a:extLst>
          </p:cNvPr>
          <p:cNvSpPr txBox="1"/>
          <p:nvPr/>
        </p:nvSpPr>
        <p:spPr>
          <a:xfrm>
            <a:off x="939800" y="46228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Freeze v1.0</a:t>
            </a:r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已定义；待</a:t>
            </a:r>
            <a:r>
              <a:rPr lang="en-US" altLang="zh-CN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FastAPI</a:t>
            </a:r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与数据模型实现。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C33D5BA-FBD8-DCAA-0272-293058347BD1}"/>
              </a:ext>
            </a:extLst>
          </p:cNvPr>
          <p:cNvSpPr/>
          <p:nvPr/>
        </p:nvSpPr>
        <p:spPr>
          <a:xfrm>
            <a:off x="4368800" y="38862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3E8DEF6-3404-212A-8735-F512E33BDBED}"/>
              </a:ext>
            </a:extLst>
          </p:cNvPr>
          <p:cNvSpPr/>
          <p:nvPr/>
        </p:nvSpPr>
        <p:spPr>
          <a:xfrm>
            <a:off x="4368800" y="3886200"/>
            <a:ext cx="76200" cy="1955800"/>
          </a:xfrm>
          <a:prstGeom prst="rect">
            <a:avLst/>
          </a:prstGeom>
          <a:solidFill>
            <a:srgbClr val="4FC0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7973923-34D9-4FFF-CB50-38D54B6800ED}"/>
              </a:ext>
            </a:extLst>
          </p:cNvPr>
          <p:cNvSpPr txBox="1"/>
          <p:nvPr/>
        </p:nvSpPr>
        <p:spPr>
          <a:xfrm>
            <a:off x="4622800" y="40894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31</a:t>
            </a:r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A39BD97-CF2D-D38B-32E4-24A155AFA310}"/>
              </a:ext>
            </a:extLst>
          </p:cNvPr>
          <p:cNvSpPr txBox="1"/>
          <p:nvPr/>
        </p:nvSpPr>
        <p:spPr>
          <a:xfrm>
            <a:off x="4622800" y="46228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模拟</a:t>
            </a:r>
            <a:r>
              <a:rPr lang="en-US" altLang="zh-CN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Evidence→ORANGE→</a:t>
            </a:r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工具→恢复→</a:t>
            </a:r>
            <a:r>
              <a:rPr lang="en-US" altLang="zh-CN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RESOLVED</a:t>
            </a:r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27F1589-BC0F-FE38-BEA0-866089AF8BFD}"/>
              </a:ext>
            </a:extLst>
          </p:cNvPr>
          <p:cNvSpPr/>
          <p:nvPr/>
        </p:nvSpPr>
        <p:spPr>
          <a:xfrm>
            <a:off x="8051800" y="3886200"/>
            <a:ext cx="3454400" cy="1955800"/>
          </a:xfrm>
          <a:prstGeom prst="roundRect">
            <a:avLst/>
          </a:prstGeom>
          <a:solidFill>
            <a:srgbClr val="1F344D"/>
          </a:solidFill>
          <a:ln w="12700">
            <a:solidFill>
              <a:srgbClr val="2A43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8D9FE7C-22C8-C636-7CF4-48A77AD832BB}"/>
              </a:ext>
            </a:extLst>
          </p:cNvPr>
          <p:cNvSpPr/>
          <p:nvPr/>
        </p:nvSpPr>
        <p:spPr>
          <a:xfrm>
            <a:off x="8051800" y="3886200"/>
            <a:ext cx="76200" cy="1955800"/>
          </a:xfrm>
          <a:prstGeom prst="rect">
            <a:avLst/>
          </a:prstGeom>
          <a:solidFill>
            <a:srgbClr val="4FC0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986F9F3-B056-E372-B6BA-8CBCE1FB130C}"/>
              </a:ext>
            </a:extLst>
          </p:cNvPr>
          <p:cNvSpPr txBox="1"/>
          <p:nvPr/>
        </p:nvSpPr>
        <p:spPr>
          <a:xfrm>
            <a:off x="8305800" y="4089400"/>
            <a:ext cx="2971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F8FBF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验收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272B095-FA90-7B2E-D581-FC8FFA446CC7}"/>
              </a:ext>
            </a:extLst>
          </p:cNvPr>
          <p:cNvSpPr txBox="1"/>
          <p:nvPr/>
        </p:nvSpPr>
        <p:spPr>
          <a:xfrm>
            <a:off x="8305800" y="4622800"/>
            <a:ext cx="2971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一个萤石接口真实调用；完整事件连续复现</a:t>
            </a:r>
            <a:r>
              <a:rPr lang="en-US" altLang="zh-CN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150">
                <a:solidFill>
                  <a:srgbClr val="B1C2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次。</a:t>
            </a:r>
          </a:p>
        </p:txBody>
      </p:sp>
    </p:spTree>
    <p:extLst>
      <p:ext uri="{BB962C8B-B14F-4D97-AF65-F5344CB8AC3E}">
        <p14:creationId xmlns:p14="http://schemas.microsoft.com/office/powerpoint/2010/main" val="1310360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1325</Words>
  <Application>Microsoft Office PowerPoint</Application>
  <PresentationFormat>自定义</PresentationFormat>
  <Paragraphs>162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薇 张</dc:creator>
  <cp:lastModifiedBy>薇 张</cp:lastModifiedBy>
  <cp:revision>1</cp:revision>
  <dcterms:created xsi:type="dcterms:W3CDTF">2026-07-23T07:43:05Z</dcterms:created>
  <dcterms:modified xsi:type="dcterms:W3CDTF">2026-07-23T07:43:05Z</dcterms:modified>
</cp:coreProperties>
</file>